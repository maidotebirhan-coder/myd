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4" r:id="rId5"/>
    <p:sldId id="266" r:id="rId6"/>
    <p:sldId id="265" r:id="rId7"/>
    <p:sldId id="268" r:id="rId8"/>
    <p:sldId id="296" r:id="rId9"/>
    <p:sldId id="269" r:id="rId10"/>
    <p:sldId id="272" r:id="rId11"/>
    <p:sldId id="298" r:id="rId12"/>
    <p:sldId id="274" r:id="rId13"/>
    <p:sldId id="275" r:id="rId14"/>
    <p:sldId id="279" r:id="rId15"/>
    <p:sldId id="276" r:id="rId16"/>
    <p:sldId id="277" r:id="rId17"/>
    <p:sldId id="278" r:id="rId18"/>
    <p:sldId id="283" r:id="rId19"/>
    <p:sldId id="284" r:id="rId20"/>
    <p:sldId id="285" r:id="rId21"/>
    <p:sldId id="286" r:id="rId22"/>
    <p:sldId id="287" r:id="rId23"/>
    <p:sldId id="288" r:id="rId24"/>
    <p:sldId id="289" r:id="rId25"/>
    <p:sldId id="292" r:id="rId26"/>
    <p:sldId id="293" r:id="rId27"/>
    <p:sldId id="294" r:id="rId28"/>
    <p:sldId id="295" r:id="rId29"/>
    <p:sldId id="300"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205728"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timing>
    <p:tnLst>
      <p:par>
        <p:cTn id="1" dur="indefinite" restart="never" nodeType="tmRoot"/>
      </p:par>
    </p:tn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70573"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1026" name="Title 1025"/>
          <p:cNvSpPr/>
          <p:nvPr>
            <p:ph type="title"/>
          </p:nvPr>
        </p:nvSpPr>
        <p:spPr>
          <a:xfrm>
            <a:off x="609600" y="274638"/>
            <a:ext cx="10972800" cy="1143000"/>
          </a:xfrm>
          <a:prstGeom prst="rect">
            <a:avLst/>
          </a:prstGeom>
          <a:noFill/>
          <a:ln w="9525">
            <a:noFill/>
          </a:ln>
        </p:spPr>
        <p:txBody>
          <a:bodyPr anchor="ctr" anchorCtr="0"/>
          <a:p>
            <a:pPr lvl="0"/>
            <a:r>
              <a:t>Click to edit Master title style</a:t>
            </a:r>
          </a:p>
        </p:txBody>
      </p:sp>
      <p:sp>
        <p:nvSpPr>
          <p:cNvPr id="1027" name="Text Placeholder 1026"/>
          <p:cNvSpPr/>
          <p:nvPr>
            <p:ph type="body" idx="1"/>
          </p:nvPr>
        </p:nvSpPr>
        <p:spPr>
          <a:xfrm>
            <a:off x="609600" y="1600200"/>
            <a:ext cx="10972800" cy="4525963"/>
          </a:xfrm>
          <a:prstGeom prst="rect">
            <a:avLst/>
          </a:prstGeom>
          <a:noFill/>
          <a:ln w="9525">
            <a:noFill/>
          </a:ln>
        </p:spPr>
        <p:txBody>
          <a:bodyPr/>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p:nvPr>
            <p:ph type="dt" sz="half" idx="2"/>
          </p:nvPr>
        </p:nvSpPr>
        <p:spPr>
          <a:xfrm>
            <a:off x="609600" y="6245225"/>
            <a:ext cx="2844800" cy="476250"/>
          </a:xfrm>
          <a:prstGeom prst="rect">
            <a:avLst/>
          </a:prstGeom>
          <a:noFill/>
          <a:ln w="9525">
            <a:noFill/>
          </a:ln>
        </p:spPr>
        <p:txBody>
          <a:bodyPr/>
          <a:lstStyle>
            <a:lvl1pPr>
              <a:defRPr sz="1400"/>
            </a:lvl1pPr>
          </a:lstStyle>
          <a:p>
            <a:fld id="{63A1C593-65D0-4073-BCC9-577B9352EA97}" type="datetimeFigureOut">
              <a:rPr lang="en-US" smtClean="0"/>
            </a:fld>
            <a:endParaRPr lang="en-US"/>
          </a:p>
        </p:txBody>
      </p:sp>
      <p:sp>
        <p:nvSpPr>
          <p:cNvPr id="1029" name="Footer Placeholder 1028"/>
          <p:cNvSpPr/>
          <p:nvPr>
            <p:ph type="ftr" sz="quarter" idx="3"/>
          </p:nvPr>
        </p:nvSpPr>
        <p:spPr>
          <a:xfrm>
            <a:off x="4165600" y="6245225"/>
            <a:ext cx="3860800" cy="476250"/>
          </a:xfrm>
          <a:prstGeom prst="rect">
            <a:avLst/>
          </a:prstGeom>
          <a:noFill/>
          <a:ln w="9525">
            <a:noFill/>
          </a:ln>
        </p:spPr>
        <p:txBody>
          <a:bodyPr/>
          <a:lstStyle>
            <a:lvl1pPr algn="ctr">
              <a:defRPr sz="1400"/>
            </a:lvl1pPr>
          </a:lstStyle>
          <a:p>
            <a:endParaRPr lang="en-US"/>
          </a:p>
        </p:txBody>
      </p:sp>
      <p:sp>
        <p:nvSpPr>
          <p:cNvPr id="1030" name="Slide Number Placeholder 1029"/>
          <p:cNvSpPr/>
          <p:nvPr>
            <p:ph type="sldNum" sz="quarter" idx="4"/>
          </p:nvPr>
        </p:nvSpPr>
        <p:spPr>
          <a:xfrm>
            <a:off x="8737600" y="6245225"/>
            <a:ext cx="2844800" cy="476250"/>
          </a:xfrm>
          <a:prstGeom prst="rect">
            <a:avLst/>
          </a:prstGeom>
          <a:noFill/>
          <a:ln w="9525">
            <a:noFill/>
          </a:ln>
        </p:spPr>
        <p:txBody>
          <a:bodyPr/>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5.png"/><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Subtitle 2"/>
          <p:cNvSpPr>
            <a:spLocks noGrp="1"/>
          </p:cNvSpPr>
          <p:nvPr>
            <p:ph type="subTitle" idx="1"/>
          </p:nvPr>
        </p:nvSpPr>
        <p:spPr>
          <a:xfrm>
            <a:off x="179705" y="-635"/>
            <a:ext cx="11396345" cy="6688455"/>
          </a:xfrm>
        </p:spPr>
        <p:txBody>
          <a:bodyPr/>
          <a:p>
            <a:endParaRPr lang="en-US" altLang="en-GB"/>
          </a:p>
          <a:p>
            <a:endParaRPr lang="en-US" altLang="en-GB"/>
          </a:p>
          <a:p>
            <a:endParaRPr lang="en-US" altLang="en-GB" sz="2400" b="1"/>
          </a:p>
          <a:p>
            <a:endParaRPr lang="en-US" altLang="en-GB" sz="2400" b="1"/>
          </a:p>
          <a:p>
            <a:endParaRPr lang="en-US" altLang="en-GB" sz="2400" b="1"/>
          </a:p>
          <a:p>
            <a:endParaRPr lang="en-US" altLang="en-GB" sz="2400" b="1"/>
          </a:p>
          <a:p>
            <a:r>
              <a:rPr lang="en-US" altLang="en-GB" sz="2400" b="1"/>
              <a:t>WOLAITA SODO UNIVERSITY</a:t>
            </a:r>
            <a:endParaRPr lang="en-US" altLang="en-GB" sz="2400" b="1"/>
          </a:p>
          <a:p>
            <a:r>
              <a:rPr lang="en-US" altLang="en-GB" sz="2000" b="1"/>
              <a:t>SCHOOL OF INFORMATICS</a:t>
            </a:r>
            <a:endParaRPr lang="en-US" altLang="en-GB" sz="2000" b="1"/>
          </a:p>
          <a:p>
            <a:r>
              <a:rPr lang="en-US" altLang="en-GB" sz="2000" b="1"/>
              <a:t>DEPARTMENT OF COMPUTER SCIENCE</a:t>
            </a:r>
            <a:endParaRPr lang="en-US" altLang="en-GB"/>
          </a:p>
          <a:p>
            <a:r>
              <a:rPr lang="en-US" altLang="en-GB" sz="2000" b="1" i="1">
                <a:solidFill>
                  <a:srgbClr val="002060"/>
                </a:solidFill>
                <a:latin typeface="Comic Sans MS" panose="030F0702030302020204" charset="0"/>
                <a:cs typeface="Comic Sans MS" panose="030F0702030302020204" charset="0"/>
              </a:rPr>
              <a:t>GROUP 9: </a:t>
            </a:r>
            <a:endParaRPr lang="en-US" altLang="en-GB" sz="2000" b="1" i="1">
              <a:solidFill>
                <a:srgbClr val="002060"/>
              </a:solidFill>
              <a:latin typeface="Comic Sans MS" panose="030F0702030302020204" charset="0"/>
              <a:cs typeface="Comic Sans MS" panose="030F0702030302020204" charset="0"/>
            </a:endParaRPr>
          </a:p>
          <a:p>
            <a:r>
              <a:rPr lang="en-US" altLang="en-GB" sz="2000" b="1" i="1">
                <a:solidFill>
                  <a:srgbClr val="002060"/>
                </a:solidFill>
                <a:latin typeface="Comic Sans MS" panose="030F0702030302020204" charset="0"/>
                <a:cs typeface="Comic Sans MS" panose="030F0702030302020204" charset="0"/>
              </a:rPr>
              <a:t>DATABASE OF LIBRARY CATALOG</a:t>
            </a:r>
            <a:endParaRPr lang="en-US" altLang="en-GB" sz="2000" b="1" i="1">
              <a:solidFill>
                <a:srgbClr val="002060"/>
              </a:solidFill>
            </a:endParaRPr>
          </a:p>
        </p:txBody>
      </p:sp>
      <p:pic>
        <p:nvPicPr>
          <p:cNvPr id="17" name="Picture 17" descr="logo.f32007d1b75f"/>
          <p:cNvPicPr>
            <a:picLocks noChangeAspect="1"/>
          </p:cNvPicPr>
          <p:nvPr/>
        </p:nvPicPr>
        <p:blipFill>
          <a:blip r:embed="rId1"/>
          <a:stretch>
            <a:fillRect/>
          </a:stretch>
        </p:blipFill>
        <p:spPr>
          <a:xfrm>
            <a:off x="5039995" y="673735"/>
            <a:ext cx="1675765" cy="1576705"/>
          </a:xfrm>
          <a:prstGeom prst="rect">
            <a:avLst/>
          </a:prstGeom>
        </p:spPr>
      </p:pic>
      <p:graphicFrame>
        <p:nvGraphicFramePr>
          <p:cNvPr id="10" name="Table 9"/>
          <p:cNvGraphicFramePr/>
          <p:nvPr>
            <p:custDataLst>
              <p:tags r:id="rId2"/>
            </p:custDataLst>
          </p:nvPr>
        </p:nvGraphicFramePr>
        <p:xfrm>
          <a:off x="1710690" y="4352925"/>
          <a:ext cx="8142605" cy="2194560"/>
        </p:xfrm>
        <a:graphic>
          <a:graphicData uri="http://schemas.openxmlformats.org/drawingml/2006/table">
            <a:tbl>
              <a:tblPr firstRow="1" bandRow="1">
                <a:tableStyleId>{5C22544A-7EE6-4342-B048-85BDC9FD1C3A}</a:tableStyleId>
              </a:tblPr>
              <a:tblGrid>
                <a:gridCol w="677545"/>
                <a:gridCol w="4005580"/>
                <a:gridCol w="3459480"/>
              </a:tblGrid>
              <a:tr h="365760">
                <a:tc>
                  <a:txBody>
                    <a:bodyPr/>
                    <a:p>
                      <a:pPr>
                        <a:buNone/>
                      </a:pPr>
                      <a:r>
                        <a:rPr lang="en-US" altLang="en-GB"/>
                        <a:t>NO</a:t>
                      </a:r>
                      <a:endParaRPr lang="en-US" altLang="en-GB"/>
                    </a:p>
                  </a:txBody>
                  <a:tcPr/>
                </a:tc>
                <a:tc>
                  <a:txBody>
                    <a:bodyPr/>
                    <a:p>
                      <a:pPr>
                        <a:buNone/>
                      </a:pPr>
                      <a:r>
                        <a:rPr lang="en-US" altLang="en-GB">
                          <a:solidFill>
                            <a:schemeClr val="bg1">
                              <a:lumMod val="85000"/>
                            </a:schemeClr>
                          </a:solidFill>
                          <a:highlight>
                            <a:srgbClr val="000000"/>
                          </a:highlight>
                        </a:rPr>
                        <a:t>NAME</a:t>
                      </a:r>
                      <a:endParaRPr lang="en-US" altLang="en-GB">
                        <a:solidFill>
                          <a:schemeClr val="bg1">
                            <a:lumMod val="85000"/>
                          </a:schemeClr>
                        </a:solidFill>
                        <a:highlight>
                          <a:srgbClr val="000000"/>
                        </a:highlight>
                      </a:endParaRPr>
                    </a:p>
                  </a:txBody>
                  <a:tcPr>
                    <a:solidFill>
                      <a:schemeClr val="bg1">
                        <a:lumMod val="95000"/>
                      </a:schemeClr>
                    </a:solidFill>
                  </a:tcPr>
                </a:tc>
                <a:tc>
                  <a:txBody>
                    <a:bodyPr/>
                    <a:p>
                      <a:pPr>
                        <a:buNone/>
                      </a:pPr>
                      <a:r>
                        <a:rPr lang="en-US" altLang="en-GB"/>
                        <a:t>ID NUMBER</a:t>
                      </a:r>
                      <a:endParaRPr lang="en-US" altLang="en-GB"/>
                    </a:p>
                  </a:txBody>
                  <a:tcPr/>
                </a:tc>
              </a:tr>
              <a:tr h="365760">
                <a:tc>
                  <a:txBody>
                    <a:bodyPr/>
                    <a:p>
                      <a:pPr>
                        <a:buNone/>
                      </a:pPr>
                      <a:r>
                        <a:rPr lang="en-US" altLang="en-GB"/>
                        <a:t>1</a:t>
                      </a:r>
                      <a:endParaRPr lang="en-US" altLang="en-GB"/>
                    </a:p>
                  </a:txBody>
                  <a:tcPr/>
                </a:tc>
                <a:tc>
                  <a:txBody>
                    <a:bodyPr/>
                    <a:p>
                      <a:pPr>
                        <a:buNone/>
                      </a:pPr>
                      <a:r>
                        <a:rPr lang="en-US" altLang="en-GB"/>
                        <a:t>MAIDOTE BIRHAN</a:t>
                      </a:r>
                      <a:endParaRPr lang="en-US" altLang="en-GB"/>
                    </a:p>
                  </a:txBody>
                  <a:tcPr/>
                </a:tc>
                <a:tc>
                  <a:txBody>
                    <a:bodyPr/>
                    <a:p>
                      <a:pPr>
                        <a:buNone/>
                      </a:pPr>
                      <a:r>
                        <a:rPr lang="en-US" altLang="en-GB"/>
                        <a:t>91947/16</a:t>
                      </a:r>
                      <a:endParaRPr lang="en-US" altLang="en-GB"/>
                    </a:p>
                  </a:txBody>
                  <a:tcPr/>
                </a:tc>
              </a:tr>
              <a:tr h="365760">
                <a:tc>
                  <a:txBody>
                    <a:bodyPr/>
                    <a:p>
                      <a:pPr>
                        <a:buNone/>
                      </a:pPr>
                      <a:r>
                        <a:rPr lang="en-US" altLang="en-GB"/>
                        <a:t>2</a:t>
                      </a:r>
                      <a:endParaRPr lang="en-US" altLang="en-GB"/>
                    </a:p>
                  </a:txBody>
                  <a:tcPr/>
                </a:tc>
                <a:tc>
                  <a:txBody>
                    <a:bodyPr/>
                    <a:p>
                      <a:pPr>
                        <a:buNone/>
                      </a:pPr>
                      <a:r>
                        <a:rPr lang="en-US" altLang="en-GB"/>
                        <a:t>BEREKET TILAHUN</a:t>
                      </a:r>
                      <a:endParaRPr lang="en-US" altLang="en-GB"/>
                    </a:p>
                  </a:txBody>
                  <a:tcPr/>
                </a:tc>
                <a:tc>
                  <a:txBody>
                    <a:bodyPr/>
                    <a:p>
                      <a:pPr>
                        <a:buNone/>
                      </a:pPr>
                      <a:r>
                        <a:rPr lang="en-US" altLang="en-GB"/>
                        <a:t>93801/16</a:t>
                      </a:r>
                      <a:endParaRPr lang="en-US" altLang="en-GB"/>
                    </a:p>
                  </a:txBody>
                  <a:tcPr/>
                </a:tc>
              </a:tr>
              <a:tr h="365760">
                <a:tc>
                  <a:txBody>
                    <a:bodyPr/>
                    <a:p>
                      <a:pPr>
                        <a:buNone/>
                      </a:pPr>
                      <a:r>
                        <a:rPr lang="en-US" altLang="en-GB"/>
                        <a:t>3</a:t>
                      </a:r>
                      <a:endParaRPr lang="en-US" altLang="en-GB"/>
                    </a:p>
                  </a:txBody>
                  <a:tcPr/>
                </a:tc>
                <a:tc>
                  <a:txBody>
                    <a:bodyPr/>
                    <a:p>
                      <a:pPr>
                        <a:buNone/>
                      </a:pPr>
                      <a:r>
                        <a:rPr lang="en-US" altLang="en-GB"/>
                        <a:t>DAGIM DAWIT</a:t>
                      </a:r>
                      <a:endParaRPr lang="en-US" altLang="en-GB"/>
                    </a:p>
                  </a:txBody>
                  <a:tcPr/>
                </a:tc>
                <a:tc>
                  <a:txBody>
                    <a:bodyPr/>
                    <a:p>
                      <a:pPr>
                        <a:buNone/>
                      </a:pPr>
                      <a:r>
                        <a:rPr lang="en-US" altLang="en-GB"/>
                        <a:t>92584/16</a:t>
                      </a:r>
                      <a:endParaRPr lang="en-US" altLang="en-GB"/>
                    </a:p>
                  </a:txBody>
                  <a:tcPr/>
                </a:tc>
              </a:tr>
              <a:tr h="365760">
                <a:tc>
                  <a:txBody>
                    <a:bodyPr/>
                    <a:p>
                      <a:pPr>
                        <a:buNone/>
                      </a:pPr>
                      <a:r>
                        <a:rPr lang="en-US" altLang="en-GB"/>
                        <a:t>4</a:t>
                      </a:r>
                      <a:endParaRPr lang="en-US" altLang="en-GB"/>
                    </a:p>
                  </a:txBody>
                  <a:tcPr/>
                </a:tc>
                <a:tc>
                  <a:txBody>
                    <a:bodyPr/>
                    <a:p>
                      <a:pPr>
                        <a:buNone/>
                      </a:pPr>
                      <a:r>
                        <a:rPr lang="en-US" altLang="en-GB"/>
                        <a:t>BEKALU DEMISS</a:t>
                      </a:r>
                      <a:endParaRPr lang="en-US" altLang="en-GB"/>
                    </a:p>
                  </a:txBody>
                  <a:tcPr/>
                </a:tc>
                <a:tc>
                  <a:txBody>
                    <a:bodyPr/>
                    <a:p>
                      <a:pPr>
                        <a:buNone/>
                      </a:pPr>
                      <a:r>
                        <a:rPr lang="en-US" altLang="en-GB"/>
                        <a:t>92553/16</a:t>
                      </a:r>
                      <a:endParaRPr lang="en-US" altLang="en-GB"/>
                    </a:p>
                  </a:txBody>
                  <a:tcPr/>
                </a:tc>
              </a:tr>
              <a:tr h="365760">
                <a:tc>
                  <a:txBody>
                    <a:bodyPr/>
                    <a:p>
                      <a:pPr>
                        <a:buNone/>
                      </a:pPr>
                      <a:r>
                        <a:rPr lang="en-US" altLang="en-GB"/>
                        <a:t>5</a:t>
                      </a:r>
                      <a:endParaRPr lang="en-US" altLang="en-GB"/>
                    </a:p>
                  </a:txBody>
                  <a:tcPr/>
                </a:tc>
                <a:tc>
                  <a:txBody>
                    <a:bodyPr/>
                    <a:p>
                      <a:pPr>
                        <a:buNone/>
                      </a:pPr>
                      <a:r>
                        <a:rPr lang="en-US" altLang="en-GB"/>
                        <a:t>MEKIDES ALEMAYEW </a:t>
                      </a:r>
                      <a:endParaRPr lang="en-US" altLang="en-GB"/>
                    </a:p>
                  </a:txBody>
                  <a:tcPr/>
                </a:tc>
                <a:tc>
                  <a:txBody>
                    <a:bodyPr/>
                    <a:p>
                      <a:pPr>
                        <a:buNone/>
                      </a:pPr>
                      <a:r>
                        <a:rPr lang="en-US" altLang="en-GB"/>
                        <a:t>91975/16</a:t>
                      </a:r>
                      <a:endParaRPr lang="en-US" altLang="en-GB"/>
                    </a:p>
                  </a:txBody>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a:xfrm>
            <a:off x="838200" y="860425"/>
            <a:ext cx="10515600" cy="631825"/>
          </a:xfrm>
          <a:prstGeom prst="rect">
            <a:avLst/>
          </a:prstGeom>
        </p:spPr>
        <p:txBody>
          <a:bodyPr vert="horz" lIns="91440" tIns="45720" rIns="91440" bIns="45720" rtlCol="0" anchor="ctr">
            <a:normAutofit fontScale="90000"/>
          </a:bodyPr>
          <a:p>
            <a:r>
              <a:rPr lang="en-US" altLang="en-GB"/>
              <a:t>    </a:t>
            </a:r>
            <a:r>
              <a:rPr lang="en-US" altLang="en-GB" sz="3600"/>
              <a:t>INTRODUCTION</a:t>
            </a:r>
            <a:br>
              <a:rPr lang="en-US" altLang="en-GB" sz="3600"/>
            </a:br>
            <a:endParaRPr lang="en-US" altLang="en-GB" sz="1800" u="sng">
              <a:solidFill>
                <a:schemeClr val="tx1"/>
              </a:solidFill>
              <a:effectLst/>
            </a:endParaRPr>
          </a:p>
        </p:txBody>
      </p:sp>
      <p:sp>
        <p:nvSpPr>
          <p:cNvPr id="6" name="Text Placeholder 5"/>
          <p:cNvSpPr>
            <a:spLocks noGrp="1"/>
          </p:cNvSpPr>
          <p:nvPr>
            <p:ph type="body"/>
          </p:nvPr>
        </p:nvSpPr>
        <p:spPr>
          <a:xfrm>
            <a:off x="1285240" y="2025650"/>
            <a:ext cx="9106535" cy="4370705"/>
          </a:xfrm>
          <a:prstGeom prst="rect">
            <a:avLst/>
          </a:prstGeom>
        </p:spPr>
        <p:txBody>
          <a:bodyPr vert="horz" lIns="91440" tIns="45720" rIns="91440" bIns="45720" rtlCol="0">
            <a:normAutofit/>
          </a:bodyPr>
          <a:p>
            <a:pPr marL="0" indent="0">
              <a:buNone/>
            </a:pPr>
            <a:r>
              <a:rPr lang="en-US" altLang="en-GB" sz="1600" b="1">
                <a:solidFill>
                  <a:srgbClr val="00B050"/>
                </a:solidFill>
              </a:rPr>
              <a:t>OVERVIEW :</a:t>
            </a:r>
            <a:endParaRPr lang="en-US" altLang="en-GB" sz="1600" b="1">
              <a:solidFill>
                <a:srgbClr val="00B050"/>
              </a:solidFill>
            </a:endParaRPr>
          </a:p>
          <a:p>
            <a:pPr marL="0" indent="0">
              <a:buNone/>
            </a:pPr>
            <a:endParaRPr lang="en-US" altLang="en-GB" sz="1400" b="1">
              <a:solidFill>
                <a:srgbClr val="7030A0"/>
              </a:solidFill>
            </a:endParaRPr>
          </a:p>
          <a:p>
            <a:pPr marL="0" indent="0">
              <a:buNone/>
            </a:pPr>
            <a:r>
              <a:rPr lang="en-US" altLang="en-GB" sz="1400" b="1">
                <a:solidFill>
                  <a:srgbClr val="7030A0"/>
                </a:solidFill>
              </a:rPr>
              <a:t>        </a:t>
            </a:r>
            <a:r>
              <a:rPr lang="en-US" altLang="en-GB" sz="1400" b="1">
                <a:solidFill>
                  <a:srgbClr val="C00000"/>
                </a:solidFill>
              </a:rPr>
              <a:t> </a:t>
            </a:r>
            <a:r>
              <a:rPr lang="en-US" altLang="en-GB" sz="2000" b="1">
                <a:solidFill>
                  <a:srgbClr val="7030A0"/>
                </a:solidFill>
              </a:rPr>
              <a:t>The Library Catalog System is designed to organize and manage a library's collection of books, authors, and borrowing activities. It also integrates the ability to manage and track attendees and registrations for library-hosted events. The goal of this system is to streamline library operations, enhance the user experience, and ensure efficient tracking of inventory and participation.</a:t>
            </a:r>
            <a:endParaRPr lang="en-US" altLang="en-GB" sz="2000" b="1">
              <a:solidFill>
                <a:srgbClr val="7030A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425575" y="530225"/>
            <a:ext cx="9341485" cy="5797550"/>
          </a:xfrm>
          <a:prstGeom prst="rect">
            <a:avLst/>
          </a:prstGeom>
          <a:ln w="6350" cap="flat" cmpd="sng" algn="ctr">
            <a:solidFill>
              <a:schemeClr val="accent3"/>
            </a:solidFill>
            <a:prstDash val="dash"/>
            <a:miter lim="800000"/>
          </a:ln>
        </p:spPr>
        <p:style>
          <a:lnRef idx="0">
            <a:schemeClr val="accent5"/>
          </a:lnRef>
          <a:fillRef idx="0">
            <a:srgbClr val="FFFFFF"/>
          </a:fillRef>
          <a:effectRef idx="0">
            <a:srgbClr val="FFFFFF"/>
          </a:effectRef>
          <a:fontRef idx="minor">
            <a:schemeClr val="tx1"/>
          </a:fontRef>
        </p:style>
        <p:txBody>
          <a:bodyPr wrap="square" rtlCol="0">
            <a:noAutofit/>
          </a:bodyPr>
          <a:p>
            <a:r>
              <a:rPr lang="en-US" altLang="en-GB" sz="2800" b="1"/>
              <a:t>Purpose of the Library Catalog System</a:t>
            </a:r>
            <a:endParaRPr lang="en-US" altLang="en-GB" sz="2800" b="1"/>
          </a:p>
          <a:p>
            <a:endParaRPr lang="en-US" altLang="en-GB"/>
          </a:p>
          <a:p>
            <a:r>
              <a:rPr lang="en-US" altLang="en-GB" sz="2000" b="1">
                <a:solidFill>
                  <a:srgbClr val="FF0000"/>
                </a:solidFill>
              </a:rPr>
              <a:t>1. To Organize Library Resources</a:t>
            </a:r>
            <a:endParaRPr lang="en-US" altLang="en-GB" sz="2000" b="1">
              <a:solidFill>
                <a:srgbClr val="FF0000"/>
              </a:solidFill>
            </a:endParaRPr>
          </a:p>
          <a:p>
            <a:r>
              <a:rPr lang="en-US" altLang="en-GB"/>
              <a:t>The system maintains structured data about books, authors, and borrowers to avoid misplacement or duplication.</a:t>
            </a:r>
            <a:endParaRPr lang="en-US" altLang="en-GB"/>
          </a:p>
          <a:p>
            <a:endParaRPr lang="en-US" altLang="en-GB"/>
          </a:p>
          <a:p>
            <a:r>
              <a:rPr lang="en-US" altLang="en-GB" sz="2000" b="1">
                <a:solidFill>
                  <a:srgbClr val="FF0000"/>
                </a:solidFill>
              </a:rPr>
              <a:t>2. To Track Book Loans and Returns</a:t>
            </a:r>
            <a:endParaRPr lang="en-US" altLang="en-GB" sz="2000" b="1">
              <a:solidFill>
                <a:srgbClr val="FF0000"/>
              </a:solidFill>
            </a:endParaRPr>
          </a:p>
          <a:p>
            <a:r>
              <a:rPr lang="en-US" altLang="en-GB"/>
              <a:t>It records when books are borrowed and returned, keeping a real-time status of each item.</a:t>
            </a:r>
            <a:endParaRPr lang="en-US" altLang="en-GB"/>
          </a:p>
          <a:p>
            <a:endParaRPr lang="en-US" altLang="en-GB"/>
          </a:p>
          <a:p>
            <a:r>
              <a:rPr lang="en-US" altLang="en-GB" sz="2000" b="1">
                <a:solidFill>
                  <a:srgbClr val="FF0000"/>
                </a:solidFill>
              </a:rPr>
              <a:t>3. To Improve Search and Retrieval</a:t>
            </a:r>
            <a:endParaRPr lang="en-US" altLang="en-GB" sz="2000" b="1">
              <a:solidFill>
                <a:srgbClr val="FF0000"/>
              </a:solidFill>
            </a:endParaRPr>
          </a:p>
          <a:p>
            <a:r>
              <a:rPr lang="en-US" altLang="en-GB"/>
              <a:t>Users and librarians can quickly search for books using title, genre, author, or publication year.</a:t>
            </a:r>
            <a:endParaRPr lang="en-US" altLang="en-GB"/>
          </a:p>
          <a:p>
            <a:endParaRPr lang="en-US" altLang="en-GB"/>
          </a:p>
          <a:p>
            <a:r>
              <a:rPr lang="en-US" altLang="en-GB" sz="2000" b="1">
                <a:solidFill>
                  <a:srgbClr val="FF0000"/>
                </a:solidFill>
              </a:rPr>
              <a:t>4. To Manage Borrower Information</a:t>
            </a:r>
            <a:endParaRPr lang="en-US" altLang="en-GB" sz="2000" b="1">
              <a:solidFill>
                <a:srgbClr val="FF0000"/>
              </a:solidFill>
            </a:endParaRPr>
          </a:p>
          <a:p>
            <a:r>
              <a:rPr lang="en-US" altLang="en-GB"/>
              <a:t>Keeps track of each borrower’s details and borrowing history to manage accountability.</a:t>
            </a:r>
            <a:endParaRPr lang="en-US" altLang="en-GB"/>
          </a:p>
          <a:p>
            <a:endParaRPr lang="en-US" altLang="en-GB"/>
          </a:p>
          <a:p>
            <a:r>
              <a:rPr lang="en-US" altLang="en-GB" sz="2000" b="1">
                <a:solidFill>
                  <a:srgbClr val="FF0000"/>
                </a:solidFill>
              </a:rPr>
              <a:t>5. To Enhance Data Accuracy and Integrity</a:t>
            </a:r>
            <a:endParaRPr lang="en-US" altLang="en-GB" sz="2000" b="1">
              <a:solidFill>
                <a:srgbClr val="FF0000"/>
              </a:solidFill>
            </a:endParaRPr>
          </a:p>
          <a:p>
            <a:r>
              <a:rPr lang="en-US" altLang="en-GB"/>
              <a:t>Uses primary and foreign keys, NOT NULL, and UNIQUE constraints to ensure clean and reliable data.</a:t>
            </a:r>
            <a:endParaRPr lang="en-US" alt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08330" y="396240"/>
            <a:ext cx="10737215" cy="7240905"/>
          </a:xfrm>
          <a:prstGeom prst="rect">
            <a:avLst/>
          </a:prstGeom>
          <a:noFill/>
        </p:spPr>
        <p:txBody>
          <a:bodyPr wrap="square" rtlCol="0">
            <a:noAutofit/>
          </a:bodyPr>
          <a:p>
            <a:r>
              <a:rPr lang="en-US" altLang="en-GB" sz="2800" b="1"/>
              <a:t>Significance of the Library Catalog System</a:t>
            </a:r>
            <a:endParaRPr lang="en-US" altLang="en-GB" sz="2800" b="1"/>
          </a:p>
          <a:p>
            <a:endParaRPr lang="en-US" altLang="en-GB" sz="2000" b="1">
              <a:solidFill>
                <a:srgbClr val="C00000"/>
              </a:solidFill>
            </a:endParaRPr>
          </a:p>
          <a:p>
            <a:r>
              <a:rPr lang="en-US" altLang="en-GB" sz="2000" b="1">
                <a:solidFill>
                  <a:srgbClr val="C00000"/>
                </a:solidFill>
              </a:rPr>
              <a:t>1. Increased Efficiency</a:t>
            </a:r>
            <a:endParaRPr lang="en-US" altLang="en-GB" sz="2000" b="1">
              <a:solidFill>
                <a:srgbClr val="C00000"/>
              </a:solidFill>
            </a:endParaRPr>
          </a:p>
          <a:p>
            <a:r>
              <a:rPr lang="en-US" altLang="en-GB"/>
              <a:t>Reduces manual work by automating cataloging, searching, and tracking operations.</a:t>
            </a:r>
            <a:endParaRPr lang="en-US" altLang="en-GB"/>
          </a:p>
          <a:p>
            <a:endParaRPr lang="en-US" altLang="en-GB"/>
          </a:p>
          <a:p>
            <a:r>
              <a:rPr lang="en-US" altLang="en-GB" sz="2000" b="1">
                <a:solidFill>
                  <a:srgbClr val="C00000"/>
                </a:solidFill>
              </a:rPr>
              <a:t>2. Better User Experience</a:t>
            </a:r>
            <a:endParaRPr lang="en-US" altLang="en-GB" sz="2000" b="1">
              <a:solidFill>
                <a:srgbClr val="C00000"/>
              </a:solidFill>
            </a:endParaRPr>
          </a:p>
          <a:p>
            <a:r>
              <a:rPr lang="en-US" altLang="en-GB"/>
              <a:t>Helps users easily find the resources they need, improving satisfaction and usability.</a:t>
            </a:r>
            <a:endParaRPr lang="en-US" altLang="en-GB"/>
          </a:p>
          <a:p>
            <a:endParaRPr lang="en-US" altLang="en-GB" sz="2000" b="1">
              <a:solidFill>
                <a:srgbClr val="C00000"/>
              </a:solidFill>
            </a:endParaRPr>
          </a:p>
          <a:p>
            <a:r>
              <a:rPr lang="en-US" altLang="en-GB" sz="2000" b="1">
                <a:solidFill>
                  <a:srgbClr val="C00000"/>
                </a:solidFill>
              </a:rPr>
              <a:t>3. Improved Accountability</a:t>
            </a:r>
            <a:endParaRPr lang="en-US" altLang="en-GB" sz="2000" b="1">
              <a:solidFill>
                <a:srgbClr val="C00000"/>
              </a:solidFill>
            </a:endParaRPr>
          </a:p>
          <a:p>
            <a:r>
              <a:rPr lang="en-US" altLang="en-GB"/>
              <a:t>Tracks which borrower has which book and flags overdue items, helping recover lost or late books.</a:t>
            </a:r>
            <a:endParaRPr lang="en-US" altLang="en-GB"/>
          </a:p>
          <a:p>
            <a:endParaRPr lang="en-US" altLang="en-GB"/>
          </a:p>
          <a:p>
            <a:r>
              <a:rPr lang="en-US" altLang="en-GB" sz="2000" b="1">
                <a:solidFill>
                  <a:srgbClr val="C00000"/>
                </a:solidFill>
              </a:rPr>
              <a:t>4. Support for Librarians</a:t>
            </a:r>
            <a:endParaRPr lang="en-US" altLang="en-GB" sz="2000" b="1">
              <a:solidFill>
                <a:srgbClr val="C00000"/>
              </a:solidFill>
            </a:endParaRPr>
          </a:p>
          <a:p>
            <a:r>
              <a:rPr lang="en-US" altLang="en-GB"/>
              <a:t>Simplifies daily tasks like checking availability, issuing, and returning books.</a:t>
            </a:r>
            <a:endParaRPr lang="en-US" altLang="en-GB"/>
          </a:p>
          <a:p>
            <a:endParaRPr lang="en-US" altLang="en-GB"/>
          </a:p>
          <a:p>
            <a:r>
              <a:rPr lang="en-US" altLang="en-GB" sz="2000" b="1">
                <a:solidFill>
                  <a:srgbClr val="C00000"/>
                </a:solidFill>
              </a:rPr>
              <a:t>5. Data Centralization</a:t>
            </a:r>
            <a:endParaRPr lang="en-US" altLang="en-GB" sz="2000" b="1">
              <a:solidFill>
                <a:srgbClr val="C00000"/>
              </a:solidFill>
            </a:endParaRPr>
          </a:p>
          <a:p>
            <a:r>
              <a:rPr lang="en-US" altLang="en-GB"/>
              <a:t>Keeps all book and loan data in one place, which is helpful for reporting and analysis.</a:t>
            </a:r>
            <a:endParaRPr lang="en-US" altLang="en-GB"/>
          </a:p>
          <a:p>
            <a:endParaRPr lang="en-US" altLang="en-GB"/>
          </a:p>
          <a:p>
            <a:r>
              <a:rPr lang="en-US" altLang="en-GB" sz="2000" b="1">
                <a:solidFill>
                  <a:srgbClr val="C00000"/>
                </a:solidFill>
              </a:rPr>
              <a:t>6. Scalable for Future Enhancements</a:t>
            </a:r>
            <a:endParaRPr lang="en-US" altLang="en-GB" sz="2000" b="1">
              <a:solidFill>
                <a:srgbClr val="C00000"/>
              </a:solidFill>
            </a:endParaRPr>
          </a:p>
          <a:p>
            <a:r>
              <a:rPr lang="en-US" altLang="en-GB"/>
              <a:t>Can be expanded to include digital resources, event registrations, or online portals.</a:t>
            </a:r>
            <a:endParaRPr lang="en-US" alt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748665" y="242570"/>
            <a:ext cx="8602980" cy="527050"/>
          </a:xfrm>
          <a:prstGeom prst="rect">
            <a:avLst/>
          </a:prstGeom>
          <a:noFill/>
        </p:spPr>
        <p:txBody>
          <a:bodyPr wrap="square" rtlCol="0">
            <a:noAutofit/>
          </a:bodyPr>
          <a:p>
            <a:r>
              <a:rPr lang="en-US" altLang="en-GB" sz="2400" b="1"/>
              <a:t>DATA IMPIMENTATION </a:t>
            </a:r>
            <a:endParaRPr lang="en-US" altLang="en-GB" sz="2400" b="1"/>
          </a:p>
          <a:p>
            <a:endParaRPr lang="en-US" altLang="en-GB" sz="2400" b="1"/>
          </a:p>
          <a:p>
            <a:endParaRPr lang="en-US" altLang="en-GB" sz="2400" b="1"/>
          </a:p>
          <a:p>
            <a:endParaRPr lang="en-US" altLang="en-GB" sz="2400" b="1"/>
          </a:p>
        </p:txBody>
      </p:sp>
      <p:graphicFrame>
        <p:nvGraphicFramePr>
          <p:cNvPr id="9" name="Table 8"/>
          <p:cNvGraphicFramePr/>
          <p:nvPr>
            <p:custDataLst>
              <p:tags r:id="rId1"/>
            </p:custDataLst>
          </p:nvPr>
        </p:nvGraphicFramePr>
        <p:xfrm>
          <a:off x="2557780" y="1564005"/>
          <a:ext cx="4985385" cy="4389120"/>
        </p:xfrm>
        <a:graphic>
          <a:graphicData uri="http://schemas.openxmlformats.org/drawingml/2006/table">
            <a:tbl>
              <a:tblPr firstRow="1" bandRow="1">
                <a:tableStyleId>{5C22544A-7EE6-4342-B048-85BDC9FD1C3A}</a:tableStyleId>
              </a:tblPr>
              <a:tblGrid>
                <a:gridCol w="1131570"/>
                <a:gridCol w="1377950"/>
                <a:gridCol w="1144270"/>
                <a:gridCol w="1331595"/>
              </a:tblGrid>
              <a:tr h="274320">
                <a:tc>
                  <a:txBody>
                    <a:bodyPr/>
                    <a:p>
                      <a:pPr>
                        <a:buNone/>
                      </a:pPr>
                      <a:r>
                        <a:rPr lang="en-US" altLang="en-GB" sz="1200"/>
                        <a:t>TABLE</a:t>
                      </a:r>
                      <a:endParaRPr lang="en-US" altLang="en-GB" sz="1200"/>
                    </a:p>
                  </a:txBody>
                  <a:tcPr>
                    <a:solidFill>
                      <a:schemeClr val="accent2">
                        <a:lumMod val="60000"/>
                        <a:lumOff val="40000"/>
                      </a:schemeClr>
                    </a:solidFill>
                  </a:tcPr>
                </a:tc>
                <a:tc>
                  <a:txBody>
                    <a:bodyPr/>
                    <a:p>
                      <a:pPr>
                        <a:buNone/>
                      </a:pPr>
                      <a:r>
                        <a:rPr lang="en-US" altLang="en-GB" sz="1200"/>
                        <a:t>KEY</a:t>
                      </a:r>
                      <a:endParaRPr lang="en-US" altLang="en-GB" sz="1200"/>
                    </a:p>
                  </a:txBody>
                  <a:tcPr>
                    <a:solidFill>
                      <a:schemeClr val="accent2">
                        <a:lumMod val="60000"/>
                        <a:lumOff val="40000"/>
                      </a:schemeClr>
                    </a:solidFill>
                  </a:tcPr>
                </a:tc>
                <a:tc>
                  <a:txBody>
                    <a:bodyPr/>
                    <a:p>
                      <a:pPr>
                        <a:buNone/>
                      </a:pPr>
                      <a:r>
                        <a:rPr lang="en-US" altLang="en-GB" sz="1200"/>
                        <a:t>DATA TYPE</a:t>
                      </a:r>
                      <a:endParaRPr lang="en-US" altLang="en-GB" sz="1200"/>
                    </a:p>
                  </a:txBody>
                  <a:tcPr>
                    <a:solidFill>
                      <a:schemeClr val="accent2">
                        <a:lumMod val="60000"/>
                        <a:lumOff val="40000"/>
                      </a:schemeClr>
                    </a:solidFill>
                  </a:tcPr>
                </a:tc>
                <a:tc>
                  <a:txBody>
                    <a:bodyPr/>
                    <a:p>
                      <a:pPr>
                        <a:buNone/>
                      </a:pPr>
                      <a:r>
                        <a:rPr lang="en-US" altLang="en-GB" sz="1200"/>
                        <a:t>CONSTRAINTS</a:t>
                      </a:r>
                      <a:endParaRPr lang="en-US" altLang="en-GB" sz="1200"/>
                    </a:p>
                  </a:txBody>
                  <a:tcPr>
                    <a:solidFill>
                      <a:schemeClr val="accent2">
                        <a:lumMod val="60000"/>
                        <a:lumOff val="40000"/>
                      </a:schemeClr>
                    </a:solidFill>
                  </a:tcPr>
                </a:tc>
              </a:tr>
              <a:tr h="274320">
                <a:tc>
                  <a:txBody>
                    <a:bodyPr/>
                    <a:p>
                      <a:pPr>
                        <a:buNone/>
                      </a:pPr>
                      <a:r>
                        <a:rPr lang="en-US" altLang="en-GB" sz="1200" b="1"/>
                        <a:t>BOOKS</a:t>
                      </a:r>
                      <a:endParaRPr lang="en-US" altLang="en-GB" sz="1200" b="1"/>
                    </a:p>
                  </a:txBody>
                  <a:tcPr>
                    <a:solidFill>
                      <a:schemeClr val="accent4">
                        <a:lumMod val="40000"/>
                        <a:lumOff val="60000"/>
                      </a:schemeClr>
                    </a:solidFill>
                  </a:tcPr>
                </a:tc>
                <a:tc>
                  <a:txBody>
                    <a:bodyPr/>
                    <a:p>
                      <a:pPr>
                        <a:buNone/>
                      </a:pPr>
                      <a:r>
                        <a:rPr lang="en-US" altLang="en-GB" sz="1200"/>
                        <a:t>BookID</a:t>
                      </a:r>
                      <a:endParaRPr lang="en-US" altLang="en-GB" sz="1200"/>
                    </a:p>
                  </a:txBody>
                  <a:tcPr>
                    <a:solidFill>
                      <a:schemeClr val="accent4">
                        <a:lumMod val="20000"/>
                        <a:lumOff val="80000"/>
                      </a:schemeClr>
                    </a:solidFill>
                  </a:tcPr>
                </a:tc>
                <a:tc>
                  <a:txBody>
                    <a:bodyPr/>
                    <a:p>
                      <a:pPr>
                        <a:buNone/>
                      </a:pPr>
                      <a:r>
                        <a:rPr lang="en-US" altLang="en-GB" sz="1200"/>
                        <a:t>INT</a:t>
                      </a:r>
                      <a:endParaRPr lang="en-US" altLang="en-GB" sz="1200"/>
                    </a:p>
                  </a:txBody>
                  <a:tcPr>
                    <a:solidFill>
                      <a:schemeClr val="accent4">
                        <a:lumMod val="20000"/>
                        <a:lumOff val="80000"/>
                      </a:schemeClr>
                    </a:solidFill>
                  </a:tcPr>
                </a:tc>
                <a:tc>
                  <a:txBody>
                    <a:bodyPr/>
                    <a:p>
                      <a:pPr>
                        <a:buNone/>
                      </a:pPr>
                      <a:r>
                        <a:rPr lang="en-US" altLang="en-GB" sz="1200"/>
                        <a:t>PRIMARY KEY</a:t>
                      </a:r>
                      <a:endParaRPr lang="en-US" altLang="en-GB" sz="1200"/>
                    </a:p>
                  </a:txBody>
                  <a:tcPr>
                    <a:solidFill>
                      <a:schemeClr val="accent4">
                        <a:lumMod val="20000"/>
                        <a:lumOff val="80000"/>
                      </a:schemeClr>
                    </a:solidFill>
                  </a:tcPr>
                </a:tc>
              </a:tr>
              <a:tr h="274320">
                <a:tc>
                  <a:txBody>
                    <a:bodyPr/>
                    <a:p>
                      <a:pPr>
                        <a:buNone/>
                      </a:pPr>
                      <a:endParaRPr lang="en-GB" altLang="en-US" sz="1200"/>
                    </a:p>
                  </a:txBody>
                  <a:tcPr>
                    <a:solidFill>
                      <a:schemeClr val="accent4">
                        <a:lumMod val="20000"/>
                        <a:lumOff val="80000"/>
                      </a:schemeClr>
                    </a:solidFill>
                  </a:tcPr>
                </a:tc>
                <a:tc>
                  <a:txBody>
                    <a:bodyPr/>
                    <a:p>
                      <a:pPr>
                        <a:buNone/>
                      </a:pPr>
                      <a:r>
                        <a:rPr lang="en-US" altLang="en-GB" sz="1200"/>
                        <a:t>Title</a:t>
                      </a:r>
                      <a:endParaRPr lang="en-US" altLang="en-GB" sz="1200"/>
                    </a:p>
                  </a:txBody>
                  <a:tcPr>
                    <a:solidFill>
                      <a:schemeClr val="accent4">
                        <a:lumMod val="20000"/>
                        <a:lumOff val="80000"/>
                      </a:schemeClr>
                    </a:solidFill>
                  </a:tcPr>
                </a:tc>
                <a:tc>
                  <a:txBody>
                    <a:bodyPr/>
                    <a:p>
                      <a:pPr>
                        <a:buNone/>
                      </a:pPr>
                      <a:r>
                        <a:rPr lang="en-US" altLang="en-GB" sz="1200"/>
                        <a:t>VARCHAR</a:t>
                      </a:r>
                      <a:endParaRPr lang="en-US" altLang="en-GB" sz="1200"/>
                    </a:p>
                  </a:txBody>
                  <a:tcPr>
                    <a:solidFill>
                      <a:schemeClr val="accent4">
                        <a:lumMod val="20000"/>
                        <a:lumOff val="80000"/>
                      </a:schemeClr>
                    </a:solidFill>
                  </a:tcPr>
                </a:tc>
                <a:tc>
                  <a:txBody>
                    <a:bodyPr/>
                    <a:p>
                      <a:pPr>
                        <a:buNone/>
                      </a:pPr>
                      <a:r>
                        <a:rPr lang="en-US" altLang="en-GB" sz="1200"/>
                        <a:t>NOT NULL</a:t>
                      </a:r>
                      <a:endParaRPr lang="en-US" altLang="en-GB" sz="1200"/>
                    </a:p>
                  </a:txBody>
                  <a:tcPr>
                    <a:solidFill>
                      <a:schemeClr val="accent4">
                        <a:lumMod val="20000"/>
                        <a:lumOff val="80000"/>
                      </a:schemeClr>
                    </a:solidFill>
                  </a:tcPr>
                </a:tc>
              </a:tr>
              <a:tr h="274320">
                <a:tc>
                  <a:txBody>
                    <a:bodyPr/>
                    <a:p>
                      <a:pPr>
                        <a:buNone/>
                      </a:pPr>
                      <a:endParaRPr lang="en-GB" altLang="en-US" sz="1200"/>
                    </a:p>
                  </a:txBody>
                  <a:tcPr>
                    <a:solidFill>
                      <a:schemeClr val="accent4">
                        <a:lumMod val="20000"/>
                        <a:lumOff val="80000"/>
                      </a:schemeClr>
                    </a:solidFill>
                  </a:tcPr>
                </a:tc>
                <a:tc>
                  <a:txBody>
                    <a:bodyPr/>
                    <a:p>
                      <a:pPr>
                        <a:buNone/>
                      </a:pPr>
                      <a:r>
                        <a:rPr lang="en-US" altLang="en-GB" sz="1200"/>
                        <a:t>Genre</a:t>
                      </a:r>
                      <a:endParaRPr lang="en-US" altLang="en-GB" sz="1200"/>
                    </a:p>
                  </a:txBody>
                  <a:tcPr>
                    <a:solidFill>
                      <a:schemeClr val="accent4">
                        <a:lumMod val="20000"/>
                        <a:lumOff val="80000"/>
                      </a:schemeClr>
                    </a:solidFill>
                  </a:tcPr>
                </a:tc>
                <a:tc>
                  <a:txBody>
                    <a:bodyPr/>
                    <a:p>
                      <a:pPr>
                        <a:buNone/>
                      </a:pPr>
                      <a:r>
                        <a:rPr lang="en-US" altLang="en-GB" sz="1200">
                          <a:sym typeface="+mn-ea"/>
                        </a:rPr>
                        <a:t>VARCHAR</a:t>
                      </a:r>
                      <a:endParaRPr lang="en-US" altLang="en-GB" sz="1200">
                        <a:sym typeface="+mn-ea"/>
                      </a:endParaRPr>
                    </a:p>
                  </a:txBody>
                  <a:tcPr>
                    <a:solidFill>
                      <a:schemeClr val="accent4">
                        <a:lumMod val="20000"/>
                        <a:lumOff val="80000"/>
                      </a:schemeClr>
                    </a:solidFill>
                  </a:tcPr>
                </a:tc>
                <a:tc>
                  <a:txBody>
                    <a:bodyPr/>
                    <a:p>
                      <a:pPr>
                        <a:buNone/>
                      </a:pPr>
                      <a:r>
                        <a:rPr lang="en-US" altLang="en-GB" sz="1200"/>
                        <a:t>NOT NULL</a:t>
                      </a:r>
                      <a:endParaRPr lang="en-US" altLang="en-GB" sz="1200"/>
                    </a:p>
                  </a:txBody>
                  <a:tcPr>
                    <a:solidFill>
                      <a:schemeClr val="accent4">
                        <a:lumMod val="20000"/>
                        <a:lumOff val="80000"/>
                      </a:schemeClr>
                    </a:solidFill>
                  </a:tcPr>
                </a:tc>
              </a:tr>
              <a:tr h="274320">
                <a:tc>
                  <a:txBody>
                    <a:bodyPr/>
                    <a:p>
                      <a:pPr>
                        <a:buNone/>
                      </a:pPr>
                      <a:endParaRPr lang="en-GB" altLang="en-US" sz="1200"/>
                    </a:p>
                  </a:txBody>
                  <a:tcPr>
                    <a:solidFill>
                      <a:schemeClr val="accent4">
                        <a:lumMod val="20000"/>
                        <a:lumOff val="80000"/>
                      </a:schemeClr>
                    </a:solidFill>
                  </a:tcPr>
                </a:tc>
                <a:tc>
                  <a:txBody>
                    <a:bodyPr/>
                    <a:p>
                      <a:pPr>
                        <a:buNone/>
                      </a:pPr>
                      <a:r>
                        <a:rPr lang="en-US" altLang="en-GB" sz="1200"/>
                        <a:t>AuthorID</a:t>
                      </a:r>
                      <a:endParaRPr lang="en-US" altLang="en-GB" sz="1200"/>
                    </a:p>
                  </a:txBody>
                  <a:tcPr>
                    <a:solidFill>
                      <a:schemeClr val="accent4">
                        <a:lumMod val="20000"/>
                        <a:lumOff val="80000"/>
                      </a:schemeClr>
                    </a:solidFill>
                  </a:tcPr>
                </a:tc>
                <a:tc>
                  <a:txBody>
                    <a:bodyPr/>
                    <a:p>
                      <a:pPr>
                        <a:buNone/>
                      </a:pPr>
                      <a:r>
                        <a:rPr lang="en-US" altLang="en-GB" sz="1200"/>
                        <a:t>INT</a:t>
                      </a:r>
                      <a:endParaRPr lang="en-US" altLang="en-GB" sz="1200"/>
                    </a:p>
                  </a:txBody>
                  <a:tcPr>
                    <a:solidFill>
                      <a:schemeClr val="accent4">
                        <a:lumMod val="20000"/>
                        <a:lumOff val="80000"/>
                      </a:schemeClr>
                    </a:solidFill>
                  </a:tcPr>
                </a:tc>
                <a:tc>
                  <a:txBody>
                    <a:bodyPr/>
                    <a:p>
                      <a:pPr>
                        <a:buNone/>
                      </a:pPr>
                      <a:r>
                        <a:rPr lang="en-US" altLang="en-GB" sz="1200">
                          <a:sym typeface="+mn-ea"/>
                        </a:rPr>
                        <a:t>FOREIGN KEY</a:t>
                      </a:r>
                      <a:endParaRPr lang="en-US" altLang="en-GB" sz="1200">
                        <a:sym typeface="+mn-ea"/>
                      </a:endParaRPr>
                    </a:p>
                  </a:txBody>
                  <a:tcPr>
                    <a:solidFill>
                      <a:schemeClr val="accent4">
                        <a:lumMod val="20000"/>
                        <a:lumOff val="80000"/>
                      </a:schemeClr>
                    </a:solidFill>
                  </a:tcPr>
                </a:tc>
              </a:tr>
              <a:tr h="274320">
                <a:tc>
                  <a:txBody>
                    <a:bodyPr/>
                    <a:p>
                      <a:pPr>
                        <a:buNone/>
                      </a:pPr>
                      <a:endParaRPr lang="en-GB" altLang="en-US" sz="1200"/>
                    </a:p>
                  </a:txBody>
                  <a:tcPr>
                    <a:solidFill>
                      <a:schemeClr val="accent4">
                        <a:lumMod val="20000"/>
                        <a:lumOff val="80000"/>
                      </a:schemeClr>
                    </a:solidFill>
                  </a:tcPr>
                </a:tc>
                <a:tc>
                  <a:txBody>
                    <a:bodyPr/>
                    <a:p>
                      <a:pPr>
                        <a:buNone/>
                      </a:pPr>
                      <a:r>
                        <a:rPr lang="en-US" altLang="en-GB" sz="1200"/>
                        <a:t>PublicationYear</a:t>
                      </a:r>
                      <a:endParaRPr lang="en-US" altLang="en-GB" sz="1200"/>
                    </a:p>
                  </a:txBody>
                  <a:tcPr>
                    <a:solidFill>
                      <a:schemeClr val="accent4">
                        <a:lumMod val="20000"/>
                        <a:lumOff val="80000"/>
                      </a:schemeClr>
                    </a:solidFill>
                  </a:tcPr>
                </a:tc>
                <a:tc>
                  <a:txBody>
                    <a:bodyPr/>
                    <a:p>
                      <a:pPr>
                        <a:buNone/>
                      </a:pPr>
                      <a:r>
                        <a:rPr lang="en-US" altLang="en-GB" sz="1200">
                          <a:sym typeface="+mn-ea"/>
                        </a:rPr>
                        <a:t>VARCHAR</a:t>
                      </a:r>
                      <a:endParaRPr lang="en-US" altLang="en-GB" sz="1200">
                        <a:sym typeface="+mn-ea"/>
                      </a:endParaRPr>
                    </a:p>
                  </a:txBody>
                  <a:tcPr>
                    <a:solidFill>
                      <a:schemeClr val="accent4">
                        <a:lumMod val="20000"/>
                        <a:lumOff val="80000"/>
                      </a:schemeClr>
                    </a:solidFill>
                  </a:tcPr>
                </a:tc>
                <a:tc>
                  <a:txBody>
                    <a:bodyPr/>
                    <a:p>
                      <a:pPr>
                        <a:buNone/>
                      </a:pPr>
                      <a:r>
                        <a:rPr lang="en-US" altLang="en-GB" sz="1200"/>
                        <a:t>NOT NULL</a:t>
                      </a:r>
                      <a:endParaRPr lang="en-US" altLang="en-GB" sz="1200"/>
                    </a:p>
                  </a:txBody>
                  <a:tcPr>
                    <a:solidFill>
                      <a:schemeClr val="accent4">
                        <a:lumMod val="20000"/>
                        <a:lumOff val="80000"/>
                      </a:schemeClr>
                    </a:solidFill>
                  </a:tcPr>
                </a:tc>
              </a:tr>
              <a:tr h="274320">
                <a:tc>
                  <a:txBody>
                    <a:bodyPr/>
                    <a:p>
                      <a:pPr>
                        <a:buNone/>
                      </a:pPr>
                      <a:r>
                        <a:rPr lang="en-US" altLang="en-GB" sz="1200" b="1"/>
                        <a:t>Authors</a:t>
                      </a:r>
                      <a:endParaRPr lang="en-US" altLang="en-GB" sz="1200" b="1"/>
                    </a:p>
                  </a:txBody>
                  <a:tcPr>
                    <a:solidFill>
                      <a:schemeClr val="bg1">
                        <a:lumMod val="85000"/>
                      </a:schemeClr>
                    </a:solidFill>
                  </a:tcPr>
                </a:tc>
                <a:tc>
                  <a:txBody>
                    <a:bodyPr/>
                    <a:p>
                      <a:pPr>
                        <a:buNone/>
                      </a:pPr>
                      <a:r>
                        <a:rPr lang="en-US" altLang="en-GB" sz="1200"/>
                        <a:t>AuthorID</a:t>
                      </a:r>
                      <a:endParaRPr lang="en-US" altLang="en-GB" sz="1200"/>
                    </a:p>
                  </a:txBody>
                  <a:tcPr>
                    <a:solidFill>
                      <a:schemeClr val="bg1">
                        <a:lumMod val="95000"/>
                      </a:schemeClr>
                    </a:solidFill>
                  </a:tcPr>
                </a:tc>
                <a:tc>
                  <a:txBody>
                    <a:bodyPr/>
                    <a:p>
                      <a:pPr>
                        <a:buNone/>
                      </a:pPr>
                      <a:r>
                        <a:rPr lang="en-US" altLang="en-GB" sz="1200"/>
                        <a:t>INT</a:t>
                      </a:r>
                      <a:endParaRPr lang="en-US" altLang="en-GB" sz="1200"/>
                    </a:p>
                  </a:txBody>
                  <a:tcPr>
                    <a:solidFill>
                      <a:schemeClr val="bg1">
                        <a:lumMod val="95000"/>
                      </a:schemeClr>
                    </a:solidFill>
                  </a:tcPr>
                </a:tc>
                <a:tc>
                  <a:txBody>
                    <a:bodyPr/>
                    <a:p>
                      <a:pPr>
                        <a:buNone/>
                      </a:pPr>
                      <a:r>
                        <a:rPr lang="en-US" altLang="en-GB" sz="1200"/>
                        <a:t>PRIMERY KEY</a:t>
                      </a:r>
                      <a:endParaRPr lang="en-US" altLang="en-GB" sz="1200"/>
                    </a:p>
                  </a:txBody>
                  <a:tcPr>
                    <a:solidFill>
                      <a:schemeClr val="bg1">
                        <a:lumMod val="95000"/>
                      </a:schemeClr>
                    </a:solidFill>
                  </a:tcPr>
                </a:tc>
              </a:tr>
              <a:tr h="274320">
                <a:tc>
                  <a:txBody>
                    <a:bodyPr/>
                    <a:p>
                      <a:pPr>
                        <a:buNone/>
                      </a:pPr>
                      <a:endParaRPr lang="en-GB" altLang="en-US" sz="1200"/>
                    </a:p>
                  </a:txBody>
                  <a:tcPr>
                    <a:solidFill>
                      <a:schemeClr val="bg1">
                        <a:lumMod val="95000"/>
                      </a:schemeClr>
                    </a:solidFill>
                  </a:tcPr>
                </a:tc>
                <a:tc>
                  <a:txBody>
                    <a:bodyPr/>
                    <a:p>
                      <a:pPr>
                        <a:buNone/>
                      </a:pPr>
                      <a:r>
                        <a:rPr lang="en-US" altLang="en-GB" sz="1200"/>
                        <a:t>AuthorName</a:t>
                      </a:r>
                      <a:endParaRPr lang="en-US" altLang="en-GB" sz="1200"/>
                    </a:p>
                  </a:txBody>
                  <a:tcPr>
                    <a:solidFill>
                      <a:schemeClr val="bg1">
                        <a:lumMod val="95000"/>
                      </a:schemeClr>
                    </a:solidFill>
                  </a:tcPr>
                </a:tc>
                <a:tc>
                  <a:txBody>
                    <a:bodyPr/>
                    <a:p>
                      <a:pPr>
                        <a:buNone/>
                      </a:pPr>
                      <a:r>
                        <a:rPr lang="en-US" altLang="en-GB" sz="1200"/>
                        <a:t>VARCHAR</a:t>
                      </a:r>
                      <a:endParaRPr lang="en-US" altLang="en-GB" sz="1200"/>
                    </a:p>
                  </a:txBody>
                  <a:tcPr>
                    <a:solidFill>
                      <a:schemeClr val="bg1">
                        <a:lumMod val="95000"/>
                      </a:schemeClr>
                    </a:solidFill>
                  </a:tcPr>
                </a:tc>
                <a:tc>
                  <a:txBody>
                    <a:bodyPr/>
                    <a:p>
                      <a:pPr>
                        <a:buNone/>
                      </a:pPr>
                      <a:r>
                        <a:rPr lang="en-US" altLang="en-GB" sz="1200"/>
                        <a:t>NOT NULL</a:t>
                      </a:r>
                      <a:endParaRPr lang="en-US" altLang="en-GB" sz="1200"/>
                    </a:p>
                  </a:txBody>
                  <a:tcPr>
                    <a:solidFill>
                      <a:schemeClr val="bg1">
                        <a:lumMod val="95000"/>
                      </a:schemeClr>
                    </a:solidFill>
                  </a:tcPr>
                </a:tc>
              </a:tr>
              <a:tr h="274320">
                <a:tc>
                  <a:txBody>
                    <a:bodyPr/>
                    <a:p>
                      <a:pPr>
                        <a:buNone/>
                      </a:pPr>
                      <a:r>
                        <a:rPr lang="en-US" altLang="en-GB" sz="1200" b="1"/>
                        <a:t>Borrowers</a:t>
                      </a:r>
                      <a:endParaRPr lang="en-US" altLang="en-GB" sz="1200" b="1"/>
                    </a:p>
                  </a:txBody>
                  <a:tcPr>
                    <a:solidFill>
                      <a:schemeClr val="accent6">
                        <a:lumMod val="60000"/>
                        <a:lumOff val="40000"/>
                      </a:schemeClr>
                    </a:solidFill>
                  </a:tcPr>
                </a:tc>
                <a:tc>
                  <a:txBody>
                    <a:bodyPr/>
                    <a:p>
                      <a:pPr>
                        <a:buNone/>
                      </a:pPr>
                      <a:r>
                        <a:rPr lang="en-US" altLang="en-GB" sz="1200"/>
                        <a:t>BorrowerID</a:t>
                      </a:r>
                      <a:endParaRPr lang="en-US" altLang="en-GB" sz="1200"/>
                    </a:p>
                  </a:txBody>
                  <a:tcPr>
                    <a:solidFill>
                      <a:schemeClr val="accent6">
                        <a:lumMod val="40000"/>
                        <a:lumOff val="60000"/>
                      </a:schemeClr>
                    </a:solidFill>
                  </a:tcPr>
                </a:tc>
                <a:tc>
                  <a:txBody>
                    <a:bodyPr/>
                    <a:p>
                      <a:pPr>
                        <a:buNone/>
                      </a:pPr>
                      <a:r>
                        <a:rPr lang="en-US" altLang="en-GB" sz="1200"/>
                        <a:t>INT</a:t>
                      </a:r>
                      <a:endParaRPr lang="en-US" altLang="en-GB" sz="1200"/>
                    </a:p>
                  </a:txBody>
                  <a:tcPr>
                    <a:solidFill>
                      <a:schemeClr val="accent6">
                        <a:lumMod val="40000"/>
                        <a:lumOff val="60000"/>
                      </a:schemeClr>
                    </a:solidFill>
                  </a:tcPr>
                </a:tc>
                <a:tc>
                  <a:txBody>
                    <a:bodyPr/>
                    <a:p>
                      <a:pPr>
                        <a:buNone/>
                      </a:pPr>
                      <a:r>
                        <a:rPr lang="en-US" altLang="en-GB" sz="1200"/>
                        <a:t>PRIMARY KEY</a:t>
                      </a:r>
                      <a:endParaRPr lang="en-US" altLang="en-GB" sz="1200"/>
                    </a:p>
                  </a:txBody>
                  <a:tcPr>
                    <a:solidFill>
                      <a:schemeClr val="accent6">
                        <a:lumMod val="40000"/>
                        <a:lumOff val="60000"/>
                      </a:schemeClr>
                    </a:solidFill>
                  </a:tcPr>
                </a:tc>
              </a:tr>
              <a:tr h="274320">
                <a:tc>
                  <a:txBody>
                    <a:bodyPr/>
                    <a:p>
                      <a:pPr>
                        <a:buNone/>
                      </a:pPr>
                      <a:endParaRPr lang="en-GB" altLang="en-US" sz="1200"/>
                    </a:p>
                  </a:txBody>
                  <a:tcPr>
                    <a:solidFill>
                      <a:schemeClr val="accent6">
                        <a:lumMod val="40000"/>
                        <a:lumOff val="60000"/>
                      </a:schemeClr>
                    </a:solidFill>
                  </a:tcPr>
                </a:tc>
                <a:tc>
                  <a:txBody>
                    <a:bodyPr/>
                    <a:p>
                      <a:pPr>
                        <a:buNone/>
                      </a:pPr>
                      <a:r>
                        <a:rPr lang="en-US" altLang="en-GB" sz="1200"/>
                        <a:t>BorrowerName</a:t>
                      </a:r>
                      <a:endParaRPr lang="en-US" altLang="en-GB" sz="1200"/>
                    </a:p>
                  </a:txBody>
                  <a:tcPr>
                    <a:solidFill>
                      <a:schemeClr val="accent6">
                        <a:lumMod val="40000"/>
                        <a:lumOff val="60000"/>
                      </a:schemeClr>
                    </a:solidFill>
                  </a:tcPr>
                </a:tc>
                <a:tc>
                  <a:txBody>
                    <a:bodyPr/>
                    <a:p>
                      <a:pPr>
                        <a:buNone/>
                      </a:pPr>
                      <a:r>
                        <a:rPr lang="en-US" altLang="en-GB" sz="1200"/>
                        <a:t>VARCHAR</a:t>
                      </a:r>
                      <a:endParaRPr lang="en-US" altLang="en-GB" sz="1200"/>
                    </a:p>
                  </a:txBody>
                  <a:tcPr>
                    <a:solidFill>
                      <a:schemeClr val="accent6">
                        <a:lumMod val="40000"/>
                        <a:lumOff val="60000"/>
                      </a:schemeClr>
                    </a:solidFill>
                  </a:tcPr>
                </a:tc>
                <a:tc>
                  <a:txBody>
                    <a:bodyPr/>
                    <a:p>
                      <a:pPr>
                        <a:buNone/>
                      </a:pPr>
                      <a:r>
                        <a:rPr lang="en-US" altLang="en-GB" sz="1200"/>
                        <a:t>NOT NULL</a:t>
                      </a:r>
                      <a:endParaRPr lang="en-US" altLang="en-GB" sz="1200"/>
                    </a:p>
                  </a:txBody>
                  <a:tcPr>
                    <a:solidFill>
                      <a:schemeClr val="accent6">
                        <a:lumMod val="40000"/>
                        <a:lumOff val="60000"/>
                      </a:schemeClr>
                    </a:solidFill>
                  </a:tcPr>
                </a:tc>
              </a:tr>
              <a:tr h="274320">
                <a:tc>
                  <a:txBody>
                    <a:bodyPr/>
                    <a:p>
                      <a:pPr>
                        <a:buNone/>
                      </a:pPr>
                      <a:r>
                        <a:rPr lang="en-US" altLang="en-GB" sz="1200" b="1"/>
                        <a:t>Loan</a:t>
                      </a:r>
                      <a:endParaRPr lang="en-US" altLang="en-GB" sz="1200" b="1"/>
                    </a:p>
                  </a:txBody>
                  <a:tcPr>
                    <a:solidFill>
                      <a:schemeClr val="accent5">
                        <a:lumMod val="40000"/>
                        <a:lumOff val="60000"/>
                      </a:schemeClr>
                    </a:solidFill>
                  </a:tcPr>
                </a:tc>
                <a:tc>
                  <a:txBody>
                    <a:bodyPr/>
                    <a:p>
                      <a:pPr>
                        <a:buNone/>
                      </a:pPr>
                      <a:r>
                        <a:rPr lang="en-US" altLang="en-GB" sz="1200"/>
                        <a:t>LoanID</a:t>
                      </a:r>
                      <a:endParaRPr lang="en-US" altLang="en-GB" sz="1200"/>
                    </a:p>
                  </a:txBody>
                  <a:tcPr>
                    <a:solidFill>
                      <a:schemeClr val="accent5">
                        <a:lumMod val="20000"/>
                        <a:lumOff val="80000"/>
                      </a:schemeClr>
                    </a:solidFill>
                  </a:tcPr>
                </a:tc>
                <a:tc>
                  <a:txBody>
                    <a:bodyPr/>
                    <a:p>
                      <a:pPr>
                        <a:buNone/>
                      </a:pPr>
                      <a:r>
                        <a:rPr lang="en-US" altLang="en-GB" sz="1200"/>
                        <a:t>INT</a:t>
                      </a:r>
                      <a:endParaRPr lang="en-US" altLang="en-GB" sz="1200"/>
                    </a:p>
                  </a:txBody>
                  <a:tcPr>
                    <a:solidFill>
                      <a:schemeClr val="accent5">
                        <a:lumMod val="20000"/>
                        <a:lumOff val="80000"/>
                      </a:schemeClr>
                    </a:solidFill>
                  </a:tcPr>
                </a:tc>
                <a:tc>
                  <a:txBody>
                    <a:bodyPr/>
                    <a:p>
                      <a:pPr>
                        <a:buNone/>
                      </a:pPr>
                      <a:r>
                        <a:rPr lang="en-US" altLang="en-GB" sz="1200"/>
                        <a:t>PRIMARY KEY</a:t>
                      </a:r>
                      <a:endParaRPr lang="en-US" altLang="en-GB" sz="1200"/>
                    </a:p>
                  </a:txBody>
                  <a:tcPr>
                    <a:solidFill>
                      <a:schemeClr val="accent5">
                        <a:lumMod val="20000"/>
                        <a:lumOff val="80000"/>
                      </a:schemeClr>
                    </a:solidFill>
                  </a:tcPr>
                </a:tc>
              </a:tr>
              <a:tr h="274320">
                <a:tc>
                  <a:txBody>
                    <a:bodyPr/>
                    <a:p>
                      <a:pPr>
                        <a:buNone/>
                      </a:pPr>
                      <a:endParaRPr lang="en-GB" altLang="en-US" sz="1200"/>
                    </a:p>
                  </a:txBody>
                  <a:tcPr>
                    <a:solidFill>
                      <a:schemeClr val="accent5">
                        <a:lumMod val="20000"/>
                        <a:lumOff val="80000"/>
                      </a:schemeClr>
                    </a:solidFill>
                  </a:tcPr>
                </a:tc>
                <a:tc>
                  <a:txBody>
                    <a:bodyPr/>
                    <a:p>
                      <a:pPr>
                        <a:buNone/>
                      </a:pPr>
                      <a:r>
                        <a:rPr lang="en-US" altLang="en-GB" sz="1200"/>
                        <a:t>LoanDate</a:t>
                      </a:r>
                      <a:endParaRPr lang="en-US" altLang="en-GB" sz="1200"/>
                    </a:p>
                  </a:txBody>
                  <a:tcPr>
                    <a:solidFill>
                      <a:schemeClr val="accent5">
                        <a:lumMod val="20000"/>
                        <a:lumOff val="80000"/>
                      </a:schemeClr>
                    </a:solidFill>
                  </a:tcPr>
                </a:tc>
                <a:tc>
                  <a:txBody>
                    <a:bodyPr/>
                    <a:p>
                      <a:pPr>
                        <a:buNone/>
                      </a:pPr>
                      <a:r>
                        <a:rPr lang="en-US" altLang="en-GB" sz="1200"/>
                        <a:t>VARCHAR</a:t>
                      </a:r>
                      <a:endParaRPr lang="en-US" altLang="en-GB" sz="1200"/>
                    </a:p>
                  </a:txBody>
                  <a:tcPr>
                    <a:solidFill>
                      <a:schemeClr val="accent5">
                        <a:lumMod val="20000"/>
                        <a:lumOff val="80000"/>
                      </a:schemeClr>
                    </a:solidFill>
                  </a:tcPr>
                </a:tc>
                <a:tc>
                  <a:txBody>
                    <a:bodyPr/>
                    <a:p>
                      <a:pPr>
                        <a:buNone/>
                      </a:pPr>
                      <a:r>
                        <a:rPr lang="en-US" altLang="en-GB" sz="1200"/>
                        <a:t>NOT NULL</a:t>
                      </a:r>
                      <a:endParaRPr lang="en-US" altLang="en-GB" sz="1200"/>
                    </a:p>
                  </a:txBody>
                  <a:tcPr>
                    <a:solidFill>
                      <a:schemeClr val="accent5">
                        <a:lumMod val="20000"/>
                        <a:lumOff val="80000"/>
                      </a:schemeClr>
                    </a:solidFill>
                  </a:tcPr>
                </a:tc>
              </a:tr>
              <a:tr h="274320">
                <a:tc>
                  <a:txBody>
                    <a:bodyPr/>
                    <a:p>
                      <a:pPr>
                        <a:buNone/>
                      </a:pPr>
                      <a:endParaRPr lang="en-GB" altLang="en-US" sz="1200"/>
                    </a:p>
                  </a:txBody>
                  <a:tcPr>
                    <a:solidFill>
                      <a:schemeClr val="accent5">
                        <a:lumMod val="20000"/>
                        <a:lumOff val="80000"/>
                      </a:schemeClr>
                    </a:solidFill>
                  </a:tcPr>
                </a:tc>
                <a:tc>
                  <a:txBody>
                    <a:bodyPr/>
                    <a:p>
                      <a:pPr>
                        <a:buNone/>
                      </a:pPr>
                      <a:r>
                        <a:rPr lang="en-US" altLang="en-GB" sz="1200"/>
                        <a:t>BookID</a:t>
                      </a:r>
                      <a:endParaRPr lang="en-US" altLang="en-GB" sz="1200"/>
                    </a:p>
                  </a:txBody>
                  <a:tcPr>
                    <a:solidFill>
                      <a:schemeClr val="accent5">
                        <a:lumMod val="20000"/>
                        <a:lumOff val="80000"/>
                      </a:schemeClr>
                    </a:solidFill>
                  </a:tcPr>
                </a:tc>
                <a:tc>
                  <a:txBody>
                    <a:bodyPr/>
                    <a:p>
                      <a:pPr>
                        <a:buNone/>
                      </a:pPr>
                      <a:r>
                        <a:rPr lang="en-US" altLang="en-GB" sz="1200"/>
                        <a:t>INT</a:t>
                      </a:r>
                      <a:endParaRPr lang="en-US" altLang="en-GB" sz="1200"/>
                    </a:p>
                  </a:txBody>
                  <a:tcPr>
                    <a:solidFill>
                      <a:schemeClr val="accent5">
                        <a:lumMod val="20000"/>
                        <a:lumOff val="80000"/>
                      </a:schemeClr>
                    </a:solidFill>
                  </a:tcPr>
                </a:tc>
                <a:tc>
                  <a:txBody>
                    <a:bodyPr/>
                    <a:p>
                      <a:pPr>
                        <a:buNone/>
                      </a:pPr>
                      <a:r>
                        <a:rPr lang="en-US" altLang="en-GB" sz="1200"/>
                        <a:t>FOREIGN KEY</a:t>
                      </a:r>
                      <a:endParaRPr lang="en-US" altLang="en-GB" sz="1200"/>
                    </a:p>
                  </a:txBody>
                  <a:tcPr>
                    <a:solidFill>
                      <a:schemeClr val="accent5">
                        <a:lumMod val="20000"/>
                        <a:lumOff val="80000"/>
                      </a:schemeClr>
                    </a:solidFill>
                  </a:tcPr>
                </a:tc>
              </a:tr>
              <a:tr h="274320">
                <a:tc>
                  <a:txBody>
                    <a:bodyPr/>
                    <a:p>
                      <a:pPr>
                        <a:buNone/>
                      </a:pPr>
                      <a:endParaRPr lang="en-GB" altLang="en-US" sz="1200"/>
                    </a:p>
                  </a:txBody>
                  <a:tcPr>
                    <a:solidFill>
                      <a:schemeClr val="accent5">
                        <a:lumMod val="20000"/>
                        <a:lumOff val="80000"/>
                      </a:schemeClr>
                    </a:solidFill>
                  </a:tcPr>
                </a:tc>
                <a:tc>
                  <a:txBody>
                    <a:bodyPr/>
                    <a:p>
                      <a:pPr>
                        <a:buNone/>
                      </a:pPr>
                      <a:r>
                        <a:rPr lang="en-US" altLang="en-GB" sz="1200"/>
                        <a:t>BorrowerID</a:t>
                      </a:r>
                      <a:endParaRPr lang="en-US" altLang="en-GB" sz="1200"/>
                    </a:p>
                  </a:txBody>
                  <a:tcPr>
                    <a:solidFill>
                      <a:schemeClr val="accent5">
                        <a:lumMod val="20000"/>
                        <a:lumOff val="80000"/>
                      </a:schemeClr>
                    </a:solidFill>
                  </a:tcPr>
                </a:tc>
                <a:tc>
                  <a:txBody>
                    <a:bodyPr/>
                    <a:p>
                      <a:pPr>
                        <a:buNone/>
                      </a:pPr>
                      <a:r>
                        <a:rPr lang="en-US" altLang="en-GB" sz="1200"/>
                        <a:t>INT</a:t>
                      </a:r>
                      <a:endParaRPr lang="en-US" altLang="en-GB" sz="1200"/>
                    </a:p>
                  </a:txBody>
                  <a:tcPr>
                    <a:solidFill>
                      <a:schemeClr val="accent5">
                        <a:lumMod val="20000"/>
                        <a:lumOff val="80000"/>
                      </a:schemeClr>
                    </a:solidFill>
                  </a:tcPr>
                </a:tc>
                <a:tc>
                  <a:txBody>
                    <a:bodyPr/>
                    <a:p>
                      <a:pPr>
                        <a:buNone/>
                      </a:pPr>
                      <a:r>
                        <a:rPr lang="en-US" altLang="en-GB" sz="1200">
                          <a:sym typeface="+mn-ea"/>
                        </a:rPr>
                        <a:t>FOREIGN KEY</a:t>
                      </a:r>
                      <a:endParaRPr lang="en-US" altLang="en-GB" sz="1200">
                        <a:sym typeface="+mn-ea"/>
                      </a:endParaRPr>
                    </a:p>
                  </a:txBody>
                  <a:tcPr>
                    <a:solidFill>
                      <a:schemeClr val="accent5">
                        <a:lumMod val="20000"/>
                        <a:lumOff val="80000"/>
                      </a:schemeClr>
                    </a:solidFill>
                  </a:tcPr>
                </a:tc>
              </a:tr>
              <a:tr h="274320">
                <a:tc>
                  <a:txBody>
                    <a:bodyPr/>
                    <a:p>
                      <a:pPr>
                        <a:buNone/>
                      </a:pPr>
                      <a:r>
                        <a:rPr lang="en-US" altLang="en-GB" sz="1200" b="1"/>
                        <a:t>Bookauthor</a:t>
                      </a:r>
                      <a:endParaRPr lang="en-US" altLang="en-GB" sz="1200" b="1"/>
                    </a:p>
                  </a:txBody>
                  <a:tcPr>
                    <a:solidFill>
                      <a:schemeClr val="accent2">
                        <a:lumMod val="40000"/>
                        <a:lumOff val="60000"/>
                      </a:schemeClr>
                    </a:solidFill>
                  </a:tcPr>
                </a:tc>
                <a:tc>
                  <a:txBody>
                    <a:bodyPr/>
                    <a:p>
                      <a:pPr>
                        <a:buNone/>
                      </a:pPr>
                      <a:r>
                        <a:rPr lang="en-US" altLang="en-GB" sz="1200"/>
                        <a:t>BookID</a:t>
                      </a:r>
                      <a:endParaRPr lang="en-US" altLang="en-GB" sz="1200"/>
                    </a:p>
                  </a:txBody>
                  <a:tcPr>
                    <a:solidFill>
                      <a:schemeClr val="accent2">
                        <a:lumMod val="20000"/>
                        <a:lumOff val="80000"/>
                      </a:schemeClr>
                    </a:solidFill>
                  </a:tcPr>
                </a:tc>
                <a:tc>
                  <a:txBody>
                    <a:bodyPr/>
                    <a:p>
                      <a:pPr>
                        <a:buNone/>
                      </a:pPr>
                      <a:r>
                        <a:rPr lang="en-US" altLang="en-GB" sz="1200"/>
                        <a:t>INT</a:t>
                      </a:r>
                      <a:endParaRPr lang="en-US" altLang="en-GB" sz="1200"/>
                    </a:p>
                  </a:txBody>
                  <a:tcPr>
                    <a:solidFill>
                      <a:schemeClr val="accent2">
                        <a:lumMod val="20000"/>
                        <a:lumOff val="80000"/>
                      </a:schemeClr>
                    </a:solidFill>
                  </a:tcPr>
                </a:tc>
                <a:tc>
                  <a:txBody>
                    <a:bodyPr/>
                    <a:p>
                      <a:pPr>
                        <a:buNone/>
                      </a:pPr>
                      <a:r>
                        <a:rPr lang="en-US" altLang="en-GB" sz="1200">
                          <a:sym typeface="+mn-ea"/>
                        </a:rPr>
                        <a:t>FOREIGN KEY</a:t>
                      </a:r>
                      <a:endParaRPr lang="en-US" altLang="en-GB" sz="1200">
                        <a:sym typeface="+mn-ea"/>
                      </a:endParaRPr>
                    </a:p>
                  </a:txBody>
                  <a:tcPr>
                    <a:solidFill>
                      <a:schemeClr val="accent2">
                        <a:lumMod val="20000"/>
                        <a:lumOff val="80000"/>
                      </a:schemeClr>
                    </a:solidFill>
                  </a:tcPr>
                </a:tc>
              </a:tr>
              <a:tr h="274320">
                <a:tc>
                  <a:txBody>
                    <a:bodyPr/>
                    <a:p>
                      <a:pPr>
                        <a:buNone/>
                      </a:pPr>
                      <a:endParaRPr lang="en-GB" altLang="en-US" sz="1200"/>
                    </a:p>
                  </a:txBody>
                  <a:tcPr>
                    <a:solidFill>
                      <a:schemeClr val="accent2">
                        <a:lumMod val="20000"/>
                        <a:lumOff val="80000"/>
                      </a:schemeClr>
                    </a:solidFill>
                  </a:tcPr>
                </a:tc>
                <a:tc>
                  <a:txBody>
                    <a:bodyPr/>
                    <a:p>
                      <a:pPr>
                        <a:buNone/>
                      </a:pPr>
                      <a:r>
                        <a:rPr lang="en-US" altLang="en-GB" sz="1200"/>
                        <a:t>AuthorID</a:t>
                      </a:r>
                      <a:endParaRPr lang="en-US" altLang="en-GB" sz="1200"/>
                    </a:p>
                  </a:txBody>
                  <a:tcPr>
                    <a:solidFill>
                      <a:schemeClr val="accent2">
                        <a:lumMod val="20000"/>
                        <a:lumOff val="80000"/>
                      </a:schemeClr>
                    </a:solidFill>
                  </a:tcPr>
                </a:tc>
                <a:tc>
                  <a:txBody>
                    <a:bodyPr/>
                    <a:p>
                      <a:pPr>
                        <a:buNone/>
                      </a:pPr>
                      <a:r>
                        <a:rPr lang="en-US" altLang="en-GB" sz="1200"/>
                        <a:t>INT</a:t>
                      </a:r>
                      <a:endParaRPr lang="en-US" altLang="en-GB" sz="1200"/>
                    </a:p>
                  </a:txBody>
                  <a:tcPr>
                    <a:solidFill>
                      <a:schemeClr val="accent2">
                        <a:lumMod val="20000"/>
                        <a:lumOff val="80000"/>
                      </a:schemeClr>
                    </a:solidFill>
                  </a:tcPr>
                </a:tc>
                <a:tc>
                  <a:txBody>
                    <a:bodyPr/>
                    <a:p>
                      <a:pPr>
                        <a:buNone/>
                      </a:pPr>
                      <a:r>
                        <a:rPr lang="en-US" altLang="en-GB" sz="1200">
                          <a:sym typeface="+mn-ea"/>
                        </a:rPr>
                        <a:t>FOREIGN KEY</a:t>
                      </a:r>
                      <a:endParaRPr lang="en-US" altLang="en-GB" sz="1200">
                        <a:sym typeface="+mn-ea"/>
                      </a:endParaRPr>
                    </a:p>
                  </a:txBody>
                  <a:tcPr>
                    <a:solidFill>
                      <a:schemeClr val="accent2">
                        <a:lumMod val="20000"/>
                        <a:lumOff val="80000"/>
                      </a:schemeClr>
                    </a:solidFill>
                  </a:tcPr>
                </a:tc>
              </a:tr>
            </a:tbl>
          </a:graphicData>
        </a:graphic>
      </p:graphicFrame>
      <p:sp>
        <p:nvSpPr>
          <p:cNvPr id="10" name="Text Box 9"/>
          <p:cNvSpPr txBox="1"/>
          <p:nvPr/>
        </p:nvSpPr>
        <p:spPr>
          <a:xfrm>
            <a:off x="936625" y="849630"/>
            <a:ext cx="8745220" cy="337185"/>
          </a:xfrm>
          <a:prstGeom prst="rect">
            <a:avLst/>
          </a:prstGeom>
          <a:noFill/>
        </p:spPr>
        <p:txBody>
          <a:bodyPr wrap="square" rtlCol="0">
            <a:spAutoFit/>
          </a:bodyPr>
          <a:p>
            <a:r>
              <a:rPr lang="en-US" altLang="en-GB" sz="1600"/>
              <a:t>TABLE OF DATA TYPE AND CONSTRAINTS</a:t>
            </a:r>
            <a:endParaRPr lang="en-US" altLang="en-GB" sz="1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p:cNvPicPr>
            <a:picLocks noChangeAspect="1"/>
          </p:cNvPicPr>
          <p:nvPr/>
        </p:nvPicPr>
        <p:blipFill>
          <a:blip r:embed="rId1"/>
          <a:stretch>
            <a:fillRect/>
          </a:stretch>
        </p:blipFill>
        <p:spPr>
          <a:xfrm>
            <a:off x="2533015" y="1851660"/>
            <a:ext cx="7734300" cy="4600575"/>
          </a:xfrm>
          <a:prstGeom prst="rect">
            <a:avLst/>
          </a:prstGeom>
        </p:spPr>
      </p:pic>
      <p:sp>
        <p:nvSpPr>
          <p:cNvPr id="4" name="Text Box 3"/>
          <p:cNvSpPr txBox="1"/>
          <p:nvPr/>
        </p:nvSpPr>
        <p:spPr>
          <a:xfrm>
            <a:off x="1191895" y="751205"/>
            <a:ext cx="7371080" cy="398780"/>
          </a:xfrm>
          <a:prstGeom prst="rect">
            <a:avLst/>
          </a:prstGeom>
          <a:noFill/>
        </p:spPr>
        <p:txBody>
          <a:bodyPr wrap="square" rtlCol="0">
            <a:spAutoFit/>
          </a:bodyPr>
          <a:p>
            <a:r>
              <a:rPr lang="en-US" altLang="en-GB" sz="2000" b="1"/>
              <a:t>RELATIONAL SCHEMA</a:t>
            </a:r>
            <a:endParaRPr lang="en-US" altLang="en-GB" sz="2000" b="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Table 2"/>
          <p:cNvGraphicFramePr/>
          <p:nvPr>
            <p:custDataLst>
              <p:tags r:id="rId1"/>
            </p:custDataLst>
          </p:nvPr>
        </p:nvGraphicFramePr>
        <p:xfrm>
          <a:off x="521970" y="4342765"/>
          <a:ext cx="9885045" cy="1906905"/>
        </p:xfrm>
        <a:graphic>
          <a:graphicData uri="http://schemas.openxmlformats.org/drawingml/2006/table">
            <a:tbl>
              <a:tblPr firstRow="1" bandRow="1">
                <a:tableStyleId>{5C22544A-7EE6-4342-B048-85BDC9FD1C3A}</a:tableStyleId>
              </a:tblPr>
              <a:tblGrid>
                <a:gridCol w="1707515"/>
                <a:gridCol w="1956435"/>
                <a:gridCol w="2404110"/>
                <a:gridCol w="3816985"/>
              </a:tblGrid>
              <a:tr h="415290">
                <a:tc>
                  <a:txBody>
                    <a:bodyPr/>
                    <a:p>
                      <a:pPr>
                        <a:buNone/>
                      </a:pPr>
                      <a:r>
                        <a:rPr lang="en-US" altLang="en-GB" sz="1400" b="0">
                          <a:solidFill>
                            <a:schemeClr val="tx1"/>
                          </a:solidFill>
                        </a:rPr>
                        <a:t>relationship type</a:t>
                      </a:r>
                      <a:endParaRPr lang="en-US" altLang="en-GB" sz="1400" b="0">
                        <a:solidFill>
                          <a:schemeClr val="tx1"/>
                        </a:solidFill>
                      </a:endParaRPr>
                    </a:p>
                  </a:txBody>
                  <a:tcPr>
                    <a:solidFill>
                      <a:schemeClr val="accent6">
                        <a:lumMod val="20000"/>
                        <a:lumOff val="80000"/>
                      </a:schemeClr>
                    </a:solidFill>
                  </a:tcPr>
                </a:tc>
                <a:tc>
                  <a:txBody>
                    <a:bodyPr/>
                    <a:p>
                      <a:pPr>
                        <a:buNone/>
                      </a:pPr>
                      <a:r>
                        <a:rPr lang="en-US" altLang="en-GB" sz="1600" b="0">
                          <a:solidFill>
                            <a:schemeClr val="tx1"/>
                          </a:solidFill>
                        </a:rPr>
                        <a:t>table involved</a:t>
                      </a:r>
                      <a:endParaRPr lang="en-US" altLang="en-GB" sz="1600" b="0">
                        <a:solidFill>
                          <a:schemeClr val="tx1"/>
                        </a:solidFill>
                      </a:endParaRPr>
                    </a:p>
                  </a:txBody>
                  <a:tcPr>
                    <a:solidFill>
                      <a:schemeClr val="accent6">
                        <a:lumMod val="20000"/>
                        <a:lumOff val="80000"/>
                      </a:schemeClr>
                    </a:solidFill>
                  </a:tcPr>
                </a:tc>
                <a:tc>
                  <a:txBody>
                    <a:bodyPr/>
                    <a:p>
                      <a:pPr>
                        <a:buNone/>
                      </a:pPr>
                      <a:r>
                        <a:rPr lang="en-US" altLang="en-GB" sz="1600" b="0">
                          <a:solidFill>
                            <a:schemeClr val="tx1"/>
                          </a:solidFill>
                        </a:rPr>
                        <a:t>linked by</a:t>
                      </a:r>
                      <a:endParaRPr lang="en-US" altLang="en-GB" sz="1600" b="0">
                        <a:solidFill>
                          <a:schemeClr val="tx1"/>
                        </a:solidFill>
                      </a:endParaRPr>
                    </a:p>
                  </a:txBody>
                  <a:tcPr>
                    <a:solidFill>
                      <a:schemeClr val="accent6">
                        <a:lumMod val="20000"/>
                        <a:lumOff val="80000"/>
                      </a:schemeClr>
                    </a:solidFill>
                  </a:tcPr>
                </a:tc>
                <a:tc>
                  <a:txBody>
                    <a:bodyPr/>
                    <a:p>
                      <a:pPr>
                        <a:buNone/>
                      </a:pPr>
                      <a:r>
                        <a:rPr lang="en-US" altLang="en-GB" sz="1600" b="0">
                          <a:solidFill>
                            <a:schemeClr val="tx1"/>
                          </a:solidFill>
                        </a:rPr>
                        <a:t>example</a:t>
                      </a:r>
                      <a:endParaRPr lang="en-US" altLang="en-GB" sz="1600" b="0">
                        <a:solidFill>
                          <a:schemeClr val="tx1"/>
                        </a:solidFill>
                      </a:endParaRPr>
                    </a:p>
                  </a:txBody>
                  <a:tcPr>
                    <a:solidFill>
                      <a:schemeClr val="accent6">
                        <a:lumMod val="20000"/>
                        <a:lumOff val="80000"/>
                      </a:schemeClr>
                    </a:solidFill>
                  </a:tcPr>
                </a:tc>
              </a:tr>
              <a:tr h="405130">
                <a:tc>
                  <a:txBody>
                    <a:bodyPr/>
                    <a:p>
                      <a:pPr>
                        <a:buNone/>
                      </a:pPr>
                      <a:r>
                        <a:rPr lang="en-US" altLang="en-GB"/>
                        <a:t>1:N</a:t>
                      </a:r>
                      <a:endParaRPr lang="en-US" altLang="en-GB"/>
                    </a:p>
                  </a:txBody>
                  <a:tcPr>
                    <a:solidFill>
                      <a:schemeClr val="accent6">
                        <a:lumMod val="20000"/>
                        <a:lumOff val="80000"/>
                      </a:schemeClr>
                    </a:solidFill>
                  </a:tcPr>
                </a:tc>
                <a:tc>
                  <a:txBody>
                    <a:bodyPr/>
                    <a:p>
                      <a:pPr>
                        <a:buNone/>
                      </a:pPr>
                      <a:r>
                        <a:rPr lang="en-US" altLang="en-GB">
                          <a:solidFill>
                            <a:schemeClr val="tx1"/>
                          </a:solidFill>
                        </a:rPr>
                        <a:t>books </a:t>
                      </a:r>
                      <a:r>
                        <a:rPr lang="en-US" altLang="en-US">
                          <a:solidFill>
                            <a:schemeClr val="tx1"/>
                          </a:solidFill>
                        </a:rPr>
                        <a:t>→</a:t>
                      </a:r>
                      <a:r>
                        <a:rPr lang="en-US" altLang="en-GB">
                          <a:solidFill>
                            <a:schemeClr val="tx1"/>
                          </a:solidFill>
                        </a:rPr>
                        <a:t> loan</a:t>
                      </a:r>
                      <a:endParaRPr lang="en-US" altLang="en-GB">
                        <a:solidFill>
                          <a:schemeClr val="tx1"/>
                        </a:solidFill>
                      </a:endParaRPr>
                    </a:p>
                  </a:txBody>
                  <a:tcPr>
                    <a:solidFill>
                      <a:schemeClr val="accent6">
                        <a:lumMod val="20000"/>
                        <a:lumOff val="80000"/>
                      </a:schemeClr>
                    </a:solidFill>
                  </a:tcPr>
                </a:tc>
                <a:tc>
                  <a:txBody>
                    <a:bodyPr/>
                    <a:p>
                      <a:pPr>
                        <a:buNone/>
                      </a:pPr>
                      <a:r>
                        <a:rPr lang="en-US" altLang="en-GB"/>
                        <a:t>book id</a:t>
                      </a:r>
                      <a:endParaRPr lang="en-US" altLang="en-GB"/>
                    </a:p>
                  </a:txBody>
                  <a:tcPr>
                    <a:solidFill>
                      <a:schemeClr val="accent6">
                        <a:lumMod val="20000"/>
                        <a:lumOff val="80000"/>
                      </a:schemeClr>
                    </a:solidFill>
                  </a:tcPr>
                </a:tc>
                <a:tc>
                  <a:txBody>
                    <a:bodyPr/>
                    <a:p>
                      <a:pPr>
                        <a:buNone/>
                      </a:pPr>
                      <a:r>
                        <a:rPr lang="en-US" altLang="en-GB"/>
                        <a:t>‘hamlet’  </a:t>
                      </a:r>
                      <a:r>
                        <a:rPr lang="en-US" altLang="en-US"/>
                        <a:t>→</a:t>
                      </a:r>
                      <a:r>
                        <a:rPr lang="en-US" altLang="en-GB"/>
                        <a:t>loan records</a:t>
                      </a:r>
                      <a:endParaRPr lang="en-US" altLang="en-GB"/>
                    </a:p>
                  </a:txBody>
                  <a:tcPr>
                    <a:solidFill>
                      <a:schemeClr val="accent6">
                        <a:lumMod val="20000"/>
                        <a:lumOff val="80000"/>
                      </a:schemeClr>
                    </a:solidFill>
                  </a:tcPr>
                </a:tc>
              </a:tr>
              <a:tr h="405130">
                <a:tc>
                  <a:txBody>
                    <a:bodyPr/>
                    <a:p>
                      <a:pPr>
                        <a:buNone/>
                      </a:pPr>
                      <a:r>
                        <a:rPr lang="en-US" altLang="en-GB"/>
                        <a:t>1:N</a:t>
                      </a:r>
                      <a:endParaRPr lang="en-US" altLang="en-GB"/>
                    </a:p>
                  </a:txBody>
                  <a:tcPr>
                    <a:solidFill>
                      <a:schemeClr val="accent6">
                        <a:lumMod val="20000"/>
                        <a:lumOff val="80000"/>
                      </a:schemeClr>
                    </a:solidFill>
                  </a:tcPr>
                </a:tc>
                <a:tc>
                  <a:txBody>
                    <a:bodyPr/>
                    <a:p>
                      <a:pPr>
                        <a:buNone/>
                      </a:pPr>
                      <a:r>
                        <a:rPr lang="en-US" altLang="en-GB"/>
                        <a:t>borrower </a:t>
                      </a:r>
                      <a:r>
                        <a:rPr lang="en-US" altLang="en-US"/>
                        <a:t>→</a:t>
                      </a:r>
                      <a:r>
                        <a:rPr lang="en-US" altLang="en-GB"/>
                        <a:t> loan</a:t>
                      </a:r>
                      <a:endParaRPr lang="en-US" altLang="en-GB"/>
                    </a:p>
                  </a:txBody>
                  <a:tcPr>
                    <a:solidFill>
                      <a:schemeClr val="accent6">
                        <a:lumMod val="20000"/>
                        <a:lumOff val="80000"/>
                      </a:schemeClr>
                    </a:solidFill>
                  </a:tcPr>
                </a:tc>
                <a:tc>
                  <a:txBody>
                    <a:bodyPr/>
                    <a:p>
                      <a:pPr>
                        <a:buNone/>
                      </a:pPr>
                      <a:r>
                        <a:rPr lang="en-US" altLang="en-GB"/>
                        <a:t>borrower id</a:t>
                      </a:r>
                      <a:endParaRPr lang="en-US" altLang="en-GB"/>
                    </a:p>
                  </a:txBody>
                  <a:tcPr>
                    <a:solidFill>
                      <a:schemeClr val="accent6">
                        <a:lumMod val="20000"/>
                        <a:lumOff val="80000"/>
                      </a:schemeClr>
                    </a:solidFill>
                  </a:tcPr>
                </a:tc>
                <a:tc>
                  <a:txBody>
                    <a:bodyPr/>
                    <a:p>
                      <a:pPr>
                        <a:buNone/>
                      </a:pPr>
                      <a:r>
                        <a:rPr lang="en-US" altLang="en-GB"/>
                        <a:t>‘beqalu’</a:t>
                      </a:r>
                      <a:r>
                        <a:rPr lang="en-US" altLang="en-US"/>
                        <a:t>→</a:t>
                      </a:r>
                      <a:r>
                        <a:rPr lang="en-US" altLang="en-GB"/>
                        <a:t> their loans</a:t>
                      </a:r>
                      <a:endParaRPr lang="en-US" altLang="en-GB"/>
                    </a:p>
                  </a:txBody>
                  <a:tcPr>
                    <a:solidFill>
                      <a:schemeClr val="accent6">
                        <a:lumMod val="20000"/>
                        <a:lumOff val="80000"/>
                      </a:schemeClr>
                    </a:solidFill>
                  </a:tcPr>
                </a:tc>
              </a:tr>
              <a:tr h="681355">
                <a:tc>
                  <a:txBody>
                    <a:bodyPr/>
                    <a:p>
                      <a:pPr>
                        <a:buNone/>
                      </a:pPr>
                      <a:r>
                        <a:rPr lang="en-US" altLang="en-GB"/>
                        <a:t>M:N</a:t>
                      </a:r>
                      <a:endParaRPr lang="en-US" altLang="en-GB"/>
                    </a:p>
                  </a:txBody>
                  <a:tcPr>
                    <a:solidFill>
                      <a:schemeClr val="accent6">
                        <a:lumMod val="20000"/>
                        <a:lumOff val="80000"/>
                      </a:schemeClr>
                    </a:solidFill>
                  </a:tcPr>
                </a:tc>
                <a:tc>
                  <a:txBody>
                    <a:bodyPr/>
                    <a:p>
                      <a:pPr>
                        <a:buNone/>
                      </a:pPr>
                      <a:r>
                        <a:rPr lang="en-US" altLang="en-GB"/>
                        <a:t>books </a:t>
                      </a:r>
                      <a:r>
                        <a:rPr lang="en-US" altLang="en-GB" sz="1800">
                          <a:sym typeface="+mn-ea"/>
                        </a:rPr>
                        <a:t> </a:t>
                      </a:r>
                      <a:r>
                        <a:rPr lang="en-US" altLang="en-US" sz="1800">
                          <a:sym typeface="+mn-ea"/>
                        </a:rPr>
                        <a:t>↔</a:t>
                      </a:r>
                      <a:r>
                        <a:rPr lang="en-US" altLang="en-GB"/>
                        <a:t> author</a:t>
                      </a:r>
                      <a:endParaRPr lang="en-US" altLang="en-GB"/>
                    </a:p>
                  </a:txBody>
                  <a:tcPr>
                    <a:solidFill>
                      <a:schemeClr val="accent6">
                        <a:lumMod val="20000"/>
                        <a:lumOff val="80000"/>
                      </a:schemeClr>
                    </a:solidFill>
                  </a:tcPr>
                </a:tc>
                <a:tc>
                  <a:txBody>
                    <a:bodyPr/>
                    <a:p>
                      <a:pPr>
                        <a:buNone/>
                      </a:pPr>
                      <a:r>
                        <a:rPr lang="en-US" altLang="en-GB"/>
                        <a:t>book author junction</a:t>
                      </a:r>
                      <a:endParaRPr lang="en-US" altLang="en-GB"/>
                    </a:p>
                  </a:txBody>
                  <a:tcPr>
                    <a:solidFill>
                      <a:schemeClr val="accent6">
                        <a:lumMod val="20000"/>
                        <a:lumOff val="80000"/>
                      </a:schemeClr>
                    </a:solidFill>
                  </a:tcPr>
                </a:tc>
                <a:tc>
                  <a:txBody>
                    <a:bodyPr/>
                    <a:p>
                      <a:pPr>
                        <a:buNone/>
                      </a:pPr>
                      <a:r>
                        <a:rPr lang="en-US" altLang="en-GB"/>
                        <a:t>‘extreme series’ </a:t>
                      </a:r>
                      <a:r>
                        <a:rPr lang="en-US" altLang="en-GB" sz="1800">
                          <a:sym typeface="+mn-ea"/>
                        </a:rPr>
                        <a:t> </a:t>
                      </a:r>
                      <a:r>
                        <a:rPr lang="en-US" altLang="en-US" sz="1800">
                          <a:sym typeface="+mn-ea"/>
                        </a:rPr>
                        <a:t>↔</a:t>
                      </a:r>
                      <a:r>
                        <a:rPr lang="en-US" altLang="en-GB"/>
                        <a:t> arebu abdella</a:t>
                      </a:r>
                      <a:endParaRPr lang="en-US" altLang="en-GB"/>
                    </a:p>
                  </a:txBody>
                  <a:tcPr>
                    <a:solidFill>
                      <a:schemeClr val="accent6">
                        <a:lumMod val="20000"/>
                        <a:lumOff val="80000"/>
                      </a:schemeClr>
                    </a:solidFill>
                  </a:tcPr>
                </a:tc>
              </a:tr>
            </a:tbl>
          </a:graphicData>
        </a:graphic>
      </p:graphicFrame>
      <p:sp>
        <p:nvSpPr>
          <p:cNvPr id="4" name="Text Box 3"/>
          <p:cNvSpPr txBox="1"/>
          <p:nvPr/>
        </p:nvSpPr>
        <p:spPr>
          <a:xfrm>
            <a:off x="3881755" y="130175"/>
            <a:ext cx="4064000" cy="368300"/>
          </a:xfrm>
          <a:prstGeom prst="rect">
            <a:avLst/>
          </a:prstGeom>
          <a:noFill/>
        </p:spPr>
        <p:txBody>
          <a:bodyPr wrap="square" rtlCol="0">
            <a:spAutoFit/>
          </a:bodyPr>
          <a:p>
            <a:endParaRPr lang="en-GB" altLang="en-US"/>
          </a:p>
        </p:txBody>
      </p:sp>
      <p:sp>
        <p:nvSpPr>
          <p:cNvPr id="8" name="Text Box 7"/>
          <p:cNvSpPr txBox="1"/>
          <p:nvPr/>
        </p:nvSpPr>
        <p:spPr>
          <a:xfrm>
            <a:off x="443230" y="243840"/>
            <a:ext cx="10733405" cy="3703955"/>
          </a:xfrm>
          <a:prstGeom prst="rect">
            <a:avLst/>
          </a:prstGeom>
          <a:noFill/>
        </p:spPr>
        <p:txBody>
          <a:bodyPr wrap="square" rtlCol="0">
            <a:noAutofit/>
          </a:bodyPr>
          <a:p>
            <a:r>
              <a:rPr lang="en-US" altLang="en-GB" sz="2000" b="1">
                <a:solidFill>
                  <a:schemeClr val="tx1"/>
                </a:solidFill>
                <a:highlight>
                  <a:srgbClr val="FFFF00"/>
                </a:highlight>
              </a:rPr>
              <a:t>relationships </a:t>
            </a:r>
            <a:endParaRPr lang="en-US" altLang="en-GB" sz="2000" b="1">
              <a:solidFill>
                <a:schemeClr val="tx1"/>
              </a:solidFill>
              <a:highlight>
                <a:srgbClr val="FFFF00"/>
              </a:highlight>
            </a:endParaRPr>
          </a:p>
          <a:p>
            <a:endParaRPr lang="en-US" altLang="en-GB" sz="2000" b="1">
              <a:solidFill>
                <a:schemeClr val="tx1"/>
              </a:solidFill>
              <a:highlight>
                <a:srgbClr val="FFFF00"/>
              </a:highlight>
            </a:endParaRPr>
          </a:p>
          <a:p>
            <a:r>
              <a:rPr lang="en-US" altLang="en-GB" b="1">
                <a:solidFill>
                  <a:srgbClr val="C00000"/>
                </a:solidFill>
              </a:rPr>
              <a:t>1,one-to-many(1:N)</a:t>
            </a:r>
            <a:endParaRPr lang="en-US" altLang="en-GB" b="1">
              <a:solidFill>
                <a:srgbClr val="C00000"/>
              </a:solidFill>
            </a:endParaRPr>
          </a:p>
          <a:p>
            <a:pPr marL="342900" indent="-342900" fontAlgn="base">
              <a:buFont typeface="Wingdings" panose="05000000000000000000" charset="0"/>
              <a:buChar char="v"/>
            </a:pPr>
            <a:r>
              <a:rPr lang="en-US" altLang="en-GB"/>
              <a:t>books </a:t>
            </a:r>
            <a:r>
              <a:rPr lang="en-US" altLang="en-GB">
                <a:sym typeface="+mn-ea"/>
              </a:rPr>
              <a:t> </a:t>
            </a:r>
            <a:r>
              <a:rPr lang="en-US" altLang="en-US">
                <a:sym typeface="+mn-ea"/>
              </a:rPr>
              <a:t>↔</a:t>
            </a:r>
            <a:r>
              <a:rPr lang="en-US" altLang="en-GB"/>
              <a:t> loan - one book can be loaned many times(but not not simultaneously)</a:t>
            </a:r>
            <a:endParaRPr lang="en-US" altLang="en-GB"/>
          </a:p>
          <a:p>
            <a:pPr marL="342900" indent="-342900" fontAlgn="base">
              <a:buFont typeface="Wingdings" panose="05000000000000000000" charset="0"/>
              <a:buChar char="v"/>
            </a:pPr>
            <a:r>
              <a:rPr lang="en-US" altLang="en-GB"/>
              <a:t>borrower:loans -one borrower can have multiple loans</a:t>
            </a:r>
            <a:endParaRPr lang="en-US" altLang="en-GB"/>
          </a:p>
          <a:p>
            <a:r>
              <a:rPr lang="en-US" altLang="en-GB" b="1">
                <a:solidFill>
                  <a:srgbClr val="C00000"/>
                </a:solidFill>
              </a:rPr>
              <a:t>2,many-to-many(M:N)</a:t>
            </a:r>
            <a:endParaRPr lang="en-US" altLang="en-GB" b="1">
              <a:solidFill>
                <a:srgbClr val="C00000"/>
              </a:solidFill>
            </a:endParaRPr>
          </a:p>
          <a:p>
            <a:r>
              <a:rPr lang="en-US" altLang="en-GB"/>
              <a:t>Books </a:t>
            </a:r>
            <a:r>
              <a:rPr lang="en-US" altLang="en-US"/>
              <a:t>↔</a:t>
            </a:r>
            <a:r>
              <a:rPr lang="en-US" altLang="en-GB"/>
              <a:t> Authors</a:t>
            </a:r>
            <a:endParaRPr lang="en-US" altLang="en-GB"/>
          </a:p>
          <a:p>
            <a:r>
              <a:rPr lang="en-US" altLang="en-GB"/>
              <a:t>   A book can have multiple authors, and an author can write multiple books.  </a:t>
            </a:r>
            <a:endParaRPr lang="en-US" altLang="en-GB"/>
          </a:p>
          <a:p>
            <a:r>
              <a:rPr lang="en-US" altLang="en-GB"/>
              <a:t> Implementation:Junction table `BookAuthor` with composite foreign keys:</a:t>
            </a:r>
            <a:endParaRPr lang="en-US" altLang="en-GB"/>
          </a:p>
          <a:p>
            <a:r>
              <a:rPr lang="en-US" altLang="en-GB" b="1">
                <a:solidFill>
                  <a:srgbClr val="C00000"/>
                </a:solidFill>
              </a:rPr>
              <a:t>3. Foreign Key Constraints </a:t>
            </a:r>
            <a:endParaRPr lang="en-US" altLang="en-GB" b="1">
              <a:solidFill>
                <a:srgbClr val="C00000"/>
              </a:solidFill>
            </a:endParaRPr>
          </a:p>
          <a:p>
            <a:r>
              <a:rPr lang="en-US" altLang="en-GB"/>
              <a:t>Cascading Rules: </a:t>
            </a:r>
            <a:endParaRPr lang="en-US" altLang="en-GB"/>
          </a:p>
          <a:p>
            <a:r>
              <a:rPr lang="en-US" altLang="en-GB"/>
              <a:t> If a book is deleted (`DELETE FROM Books`), related records in `Loan` and `BookAuthor` should be automatically removed to avoid orphaned data.    </a:t>
            </a:r>
            <a:endParaRPr lang="en-US" altLang="en-GB"/>
          </a:p>
          <a:p>
            <a:endParaRPr lang="en-US" alt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141095" y="1165860"/>
            <a:ext cx="4064000" cy="4952365"/>
          </a:xfrm>
          <a:prstGeom prst="rect">
            <a:avLst/>
          </a:prstGeom>
          <a:noFill/>
        </p:spPr>
        <p:txBody>
          <a:bodyPr wrap="square" rtlCol="0">
            <a:noAutofit/>
          </a:bodyPr>
          <a:p>
            <a:r>
              <a:rPr lang="en-US" altLang="en-GB" b="1">
                <a:solidFill>
                  <a:schemeClr val="accent6">
                    <a:lumMod val="50000"/>
                  </a:schemeClr>
                </a:solidFill>
              </a:rPr>
              <a:t>create database library</a:t>
            </a:r>
            <a:endParaRPr lang="en-US" altLang="en-GB" b="1">
              <a:solidFill>
                <a:schemeClr val="accent6">
                  <a:lumMod val="50000"/>
                </a:schemeClr>
              </a:solidFill>
            </a:endParaRPr>
          </a:p>
          <a:p>
            <a:r>
              <a:rPr lang="en-US" altLang="en-GB" b="1">
                <a:solidFill>
                  <a:schemeClr val="accent6">
                    <a:lumMod val="50000"/>
                  </a:schemeClr>
                </a:solidFill>
              </a:rPr>
              <a:t>use library</a:t>
            </a:r>
            <a:endParaRPr lang="en-US" altLang="en-GB" b="1">
              <a:solidFill>
                <a:schemeClr val="accent6">
                  <a:lumMod val="50000"/>
                </a:schemeClr>
              </a:solidFill>
            </a:endParaRPr>
          </a:p>
          <a:p>
            <a:r>
              <a:rPr lang="en-US" altLang="en-GB" b="1">
                <a:solidFill>
                  <a:schemeClr val="accent6">
                    <a:lumMod val="50000"/>
                  </a:schemeClr>
                </a:solidFill>
              </a:rPr>
              <a:t>create table books(</a:t>
            </a:r>
            <a:endParaRPr lang="en-US" altLang="en-GB" b="1">
              <a:solidFill>
                <a:schemeClr val="accent6">
                  <a:lumMod val="50000"/>
                </a:schemeClr>
              </a:solidFill>
            </a:endParaRPr>
          </a:p>
          <a:p>
            <a:r>
              <a:rPr lang="en-US" altLang="en-GB" b="1">
                <a:solidFill>
                  <a:schemeClr val="accent6">
                    <a:lumMod val="50000"/>
                  </a:schemeClr>
                </a:solidFill>
              </a:rPr>
              <a:t>bookID int primary key,</a:t>
            </a:r>
            <a:endParaRPr lang="en-US" altLang="en-GB" b="1">
              <a:solidFill>
                <a:schemeClr val="accent6">
                  <a:lumMod val="50000"/>
                </a:schemeClr>
              </a:solidFill>
            </a:endParaRPr>
          </a:p>
          <a:p>
            <a:r>
              <a:rPr lang="en-US" altLang="en-GB" b="1">
                <a:solidFill>
                  <a:schemeClr val="accent6">
                    <a:lumMod val="50000"/>
                  </a:schemeClr>
                </a:solidFill>
              </a:rPr>
              <a:t>title varchar(50),</a:t>
            </a:r>
            <a:endParaRPr lang="en-US" altLang="en-GB" b="1">
              <a:solidFill>
                <a:schemeClr val="accent6">
                  <a:lumMod val="50000"/>
                </a:schemeClr>
              </a:solidFill>
            </a:endParaRPr>
          </a:p>
          <a:p>
            <a:r>
              <a:rPr lang="en-US" altLang="en-GB" b="1">
                <a:solidFill>
                  <a:schemeClr val="accent6">
                    <a:lumMod val="50000"/>
                  </a:schemeClr>
                </a:solidFill>
              </a:rPr>
              <a:t>genere varchar(50),</a:t>
            </a:r>
            <a:endParaRPr lang="en-US" altLang="en-GB" b="1">
              <a:solidFill>
                <a:schemeClr val="accent6">
                  <a:lumMod val="50000"/>
                </a:schemeClr>
              </a:solidFill>
            </a:endParaRPr>
          </a:p>
          <a:p>
            <a:r>
              <a:rPr lang="en-US" altLang="en-GB" b="1">
                <a:solidFill>
                  <a:schemeClr val="accent6">
                    <a:lumMod val="50000"/>
                  </a:schemeClr>
                </a:solidFill>
              </a:rPr>
              <a:t>publicationYear varchar(50),</a:t>
            </a:r>
            <a:endParaRPr lang="en-US" altLang="en-GB" b="1">
              <a:solidFill>
                <a:schemeClr val="accent6">
                  <a:lumMod val="50000"/>
                </a:schemeClr>
              </a:solidFill>
            </a:endParaRPr>
          </a:p>
          <a:p>
            <a:r>
              <a:rPr lang="en-US" altLang="en-GB" b="1">
                <a:solidFill>
                  <a:schemeClr val="accent6">
                    <a:lumMod val="50000"/>
                  </a:schemeClr>
                </a:solidFill>
              </a:rPr>
              <a:t>);</a:t>
            </a:r>
            <a:endParaRPr lang="en-US" altLang="en-GB" b="1">
              <a:solidFill>
                <a:schemeClr val="accent6">
                  <a:lumMod val="50000"/>
                </a:schemeClr>
              </a:solidFill>
            </a:endParaRPr>
          </a:p>
          <a:p>
            <a:r>
              <a:rPr lang="en-US" altLang="en-GB" b="1">
                <a:solidFill>
                  <a:srgbClr val="7030A0"/>
                </a:solidFill>
              </a:rPr>
              <a:t>create table author(</a:t>
            </a:r>
            <a:endParaRPr lang="en-US" altLang="en-GB" b="1">
              <a:solidFill>
                <a:srgbClr val="7030A0"/>
              </a:solidFill>
            </a:endParaRPr>
          </a:p>
          <a:p>
            <a:r>
              <a:rPr lang="en-US" altLang="en-GB" b="1">
                <a:solidFill>
                  <a:srgbClr val="7030A0"/>
                </a:solidFill>
              </a:rPr>
              <a:t>authorID int primary key,</a:t>
            </a:r>
            <a:endParaRPr lang="en-US" altLang="en-GB" b="1">
              <a:solidFill>
                <a:srgbClr val="7030A0"/>
              </a:solidFill>
            </a:endParaRPr>
          </a:p>
          <a:p>
            <a:r>
              <a:rPr lang="en-US" altLang="en-GB" b="1">
                <a:solidFill>
                  <a:srgbClr val="7030A0"/>
                </a:solidFill>
              </a:rPr>
              <a:t>authorname varchar(45)</a:t>
            </a:r>
            <a:endParaRPr lang="en-US" altLang="en-GB" b="1">
              <a:solidFill>
                <a:srgbClr val="7030A0"/>
              </a:solidFill>
            </a:endParaRPr>
          </a:p>
          <a:p>
            <a:r>
              <a:rPr lang="en-US" altLang="en-GB" b="1">
                <a:solidFill>
                  <a:srgbClr val="7030A0"/>
                </a:solidFill>
              </a:rPr>
              <a:t>);</a:t>
            </a:r>
            <a:endParaRPr lang="en-US" altLang="en-GB" b="1">
              <a:solidFill>
                <a:srgbClr val="7030A0"/>
              </a:solidFill>
            </a:endParaRPr>
          </a:p>
          <a:p>
            <a:r>
              <a:rPr lang="en-US" altLang="en-GB" b="1">
                <a:solidFill>
                  <a:srgbClr val="0070C0"/>
                </a:solidFill>
              </a:rPr>
              <a:t>create table borrower(</a:t>
            </a:r>
            <a:endParaRPr lang="en-US" altLang="en-GB" b="1">
              <a:solidFill>
                <a:srgbClr val="0070C0"/>
              </a:solidFill>
            </a:endParaRPr>
          </a:p>
          <a:p>
            <a:r>
              <a:rPr lang="en-US" altLang="en-GB" b="1">
                <a:solidFill>
                  <a:srgbClr val="0070C0"/>
                </a:solidFill>
              </a:rPr>
              <a:t>borrowerID int primary key,</a:t>
            </a:r>
            <a:endParaRPr lang="en-US" altLang="en-GB" b="1">
              <a:solidFill>
                <a:srgbClr val="0070C0"/>
              </a:solidFill>
            </a:endParaRPr>
          </a:p>
          <a:p>
            <a:r>
              <a:rPr lang="en-US" altLang="en-GB" b="1">
                <a:solidFill>
                  <a:srgbClr val="0070C0"/>
                </a:solidFill>
              </a:rPr>
              <a:t>borrowerName varchar(50)</a:t>
            </a:r>
            <a:endParaRPr lang="en-US" altLang="en-GB" b="1">
              <a:solidFill>
                <a:srgbClr val="0070C0"/>
              </a:solidFill>
            </a:endParaRPr>
          </a:p>
          <a:p>
            <a:r>
              <a:rPr lang="en-US" altLang="en-GB" b="1">
                <a:solidFill>
                  <a:srgbClr val="0070C0"/>
                </a:solidFill>
              </a:rPr>
              <a:t>);</a:t>
            </a:r>
            <a:endParaRPr lang="en-US" altLang="en-GB" b="1">
              <a:solidFill>
                <a:srgbClr val="0070C0"/>
              </a:solidFill>
            </a:endParaRPr>
          </a:p>
        </p:txBody>
      </p:sp>
      <p:sp>
        <p:nvSpPr>
          <p:cNvPr id="3" name="Text Box 2"/>
          <p:cNvSpPr txBox="1"/>
          <p:nvPr/>
        </p:nvSpPr>
        <p:spPr>
          <a:xfrm>
            <a:off x="5631180" y="981075"/>
            <a:ext cx="5455920" cy="4846955"/>
          </a:xfrm>
          <a:prstGeom prst="rect">
            <a:avLst/>
          </a:prstGeom>
          <a:noFill/>
        </p:spPr>
        <p:txBody>
          <a:bodyPr wrap="square" rtlCol="0">
            <a:noAutofit/>
          </a:bodyPr>
          <a:p>
            <a:r>
              <a:rPr lang="en-US" altLang="en-GB" b="1">
                <a:solidFill>
                  <a:srgbClr val="C00000"/>
                </a:solidFill>
              </a:rPr>
              <a:t>create table loan(</a:t>
            </a:r>
            <a:endParaRPr lang="en-US" altLang="en-GB" b="1">
              <a:solidFill>
                <a:srgbClr val="C00000"/>
              </a:solidFill>
            </a:endParaRPr>
          </a:p>
          <a:p>
            <a:r>
              <a:rPr lang="en-US" altLang="en-GB" b="1">
                <a:solidFill>
                  <a:srgbClr val="C00000"/>
                </a:solidFill>
              </a:rPr>
              <a:t>loanID int primary key ,</a:t>
            </a:r>
            <a:endParaRPr lang="en-US" altLang="en-GB" b="1">
              <a:solidFill>
                <a:srgbClr val="C00000"/>
              </a:solidFill>
            </a:endParaRPr>
          </a:p>
          <a:p>
            <a:r>
              <a:rPr lang="en-US" altLang="en-GB" b="1">
                <a:solidFill>
                  <a:srgbClr val="C00000"/>
                </a:solidFill>
              </a:rPr>
              <a:t>loanDate varchar(50),</a:t>
            </a:r>
            <a:endParaRPr lang="en-US" altLang="en-GB" b="1">
              <a:solidFill>
                <a:srgbClr val="C00000"/>
              </a:solidFill>
            </a:endParaRPr>
          </a:p>
          <a:p>
            <a:r>
              <a:rPr lang="en-US" altLang="en-GB" b="1">
                <a:solidFill>
                  <a:srgbClr val="C00000"/>
                </a:solidFill>
              </a:rPr>
              <a:t>bookID int ,</a:t>
            </a:r>
            <a:endParaRPr lang="en-US" altLang="en-GB" b="1">
              <a:solidFill>
                <a:srgbClr val="C00000"/>
              </a:solidFill>
            </a:endParaRPr>
          </a:p>
          <a:p>
            <a:r>
              <a:rPr lang="en-US" altLang="en-GB" b="1">
                <a:solidFill>
                  <a:srgbClr val="C00000"/>
                </a:solidFill>
              </a:rPr>
              <a:t>borrowerID int,</a:t>
            </a:r>
            <a:endParaRPr lang="en-US" altLang="en-GB" b="1">
              <a:solidFill>
                <a:srgbClr val="C00000"/>
              </a:solidFill>
            </a:endParaRPr>
          </a:p>
          <a:p>
            <a:r>
              <a:rPr lang="en-US" altLang="en-GB" b="1">
                <a:solidFill>
                  <a:srgbClr val="C00000"/>
                </a:solidFill>
              </a:rPr>
              <a:t>foreign key (bookID) references books (bookID), </a:t>
            </a:r>
            <a:endParaRPr lang="en-US" altLang="en-GB" b="1">
              <a:solidFill>
                <a:srgbClr val="C00000"/>
              </a:solidFill>
            </a:endParaRPr>
          </a:p>
          <a:p>
            <a:r>
              <a:rPr lang="en-US" altLang="en-GB" b="1">
                <a:solidFill>
                  <a:srgbClr val="C00000"/>
                </a:solidFill>
              </a:rPr>
              <a:t>foreign key (borrowerID ) references borrower(borrowerID)</a:t>
            </a:r>
            <a:endParaRPr lang="en-US" altLang="en-GB" b="1">
              <a:solidFill>
                <a:srgbClr val="C00000"/>
              </a:solidFill>
            </a:endParaRPr>
          </a:p>
          <a:p>
            <a:r>
              <a:rPr lang="en-US" altLang="en-GB" b="1">
                <a:solidFill>
                  <a:srgbClr val="C00000"/>
                </a:solidFill>
              </a:rPr>
              <a:t>);</a:t>
            </a:r>
            <a:endParaRPr lang="en-US" altLang="en-GB" b="1">
              <a:solidFill>
                <a:srgbClr val="C00000"/>
              </a:solidFill>
            </a:endParaRPr>
          </a:p>
          <a:p>
            <a:r>
              <a:rPr lang="en-US" altLang="en-GB" b="1">
                <a:solidFill>
                  <a:srgbClr val="002060"/>
                </a:solidFill>
              </a:rPr>
              <a:t>create table bookAuthor(</a:t>
            </a:r>
            <a:endParaRPr lang="en-US" altLang="en-GB" b="1">
              <a:solidFill>
                <a:srgbClr val="002060"/>
              </a:solidFill>
            </a:endParaRPr>
          </a:p>
          <a:p>
            <a:r>
              <a:rPr lang="en-US" altLang="en-GB" b="1">
                <a:solidFill>
                  <a:srgbClr val="002060"/>
                </a:solidFill>
              </a:rPr>
              <a:t>bookID int ,</a:t>
            </a:r>
            <a:endParaRPr lang="en-US" altLang="en-GB" b="1">
              <a:solidFill>
                <a:srgbClr val="002060"/>
              </a:solidFill>
            </a:endParaRPr>
          </a:p>
          <a:p>
            <a:r>
              <a:rPr lang="en-US" altLang="en-GB" b="1">
                <a:solidFill>
                  <a:srgbClr val="002060"/>
                </a:solidFill>
              </a:rPr>
              <a:t>authorID int ,</a:t>
            </a:r>
            <a:endParaRPr lang="en-US" altLang="en-GB" b="1">
              <a:solidFill>
                <a:srgbClr val="002060"/>
              </a:solidFill>
            </a:endParaRPr>
          </a:p>
          <a:p>
            <a:r>
              <a:rPr lang="en-US" altLang="en-GB" b="1">
                <a:solidFill>
                  <a:srgbClr val="002060"/>
                </a:solidFill>
              </a:rPr>
              <a:t>foreign key (bookID) references books(bookID),</a:t>
            </a:r>
            <a:endParaRPr lang="en-US" altLang="en-GB" b="1">
              <a:solidFill>
                <a:srgbClr val="002060"/>
              </a:solidFill>
            </a:endParaRPr>
          </a:p>
          <a:p>
            <a:r>
              <a:rPr lang="en-US" altLang="en-GB" b="1">
                <a:solidFill>
                  <a:srgbClr val="002060"/>
                </a:solidFill>
              </a:rPr>
              <a:t>foreign key (authorID ) references author(authorID)</a:t>
            </a:r>
            <a:endParaRPr lang="en-US" altLang="en-GB" b="1">
              <a:solidFill>
                <a:srgbClr val="002060"/>
              </a:solidFill>
            </a:endParaRPr>
          </a:p>
          <a:p>
            <a:r>
              <a:rPr lang="en-US" altLang="en-GB" b="1">
                <a:solidFill>
                  <a:srgbClr val="002060"/>
                </a:solidFill>
              </a:rPr>
              <a:t>);</a:t>
            </a:r>
            <a:endParaRPr lang="en-US" altLang="en-GB" b="1">
              <a:solidFill>
                <a:srgbClr val="002060"/>
              </a:solidFill>
            </a:endParaRPr>
          </a:p>
        </p:txBody>
      </p:sp>
      <p:sp>
        <p:nvSpPr>
          <p:cNvPr id="5" name="Text Box 4"/>
          <p:cNvSpPr txBox="1"/>
          <p:nvPr/>
        </p:nvSpPr>
        <p:spPr>
          <a:xfrm>
            <a:off x="1207770" y="280035"/>
            <a:ext cx="8561705" cy="622300"/>
          </a:xfrm>
          <a:prstGeom prst="rect">
            <a:avLst/>
          </a:prstGeom>
          <a:noFill/>
        </p:spPr>
        <p:txBody>
          <a:bodyPr wrap="square" rtlCol="0">
            <a:noAutofit/>
          </a:bodyPr>
          <a:p>
            <a:r>
              <a:rPr lang="en-US" altLang="en-GB" sz="2800" b="1">
                <a:highlight>
                  <a:srgbClr val="00FFFF"/>
                </a:highlight>
              </a:rPr>
              <a:t>SQL </a:t>
            </a:r>
            <a:r>
              <a:rPr lang="en-US" altLang="en-GB" sz="2800" b="1">
                <a:highlight>
                  <a:srgbClr val="FFFF00"/>
                </a:highlight>
              </a:rPr>
              <a:t>QUERY and out put</a:t>
            </a:r>
            <a:endParaRPr lang="en-US" altLang="en-GB" sz="2800" b="1">
              <a:highlight>
                <a:srgbClr val="FFFF00"/>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p:cNvPicPr>
            <a:picLocks noChangeAspect="1"/>
          </p:cNvPicPr>
          <p:nvPr/>
        </p:nvPicPr>
        <p:blipFill>
          <a:blip r:embed="rId1"/>
          <a:stretch>
            <a:fillRect/>
          </a:stretch>
        </p:blipFill>
        <p:spPr>
          <a:xfrm>
            <a:off x="353060" y="133350"/>
            <a:ext cx="5809615" cy="4372610"/>
          </a:xfrm>
          <a:prstGeom prst="rect">
            <a:avLst/>
          </a:prstGeom>
        </p:spPr>
      </p:pic>
      <p:sp>
        <p:nvSpPr>
          <p:cNvPr id="4" name="Text Box 3"/>
          <p:cNvSpPr txBox="1"/>
          <p:nvPr/>
        </p:nvSpPr>
        <p:spPr>
          <a:xfrm>
            <a:off x="6025515" y="738505"/>
            <a:ext cx="5151120" cy="3767455"/>
          </a:xfrm>
          <a:prstGeom prst="rect">
            <a:avLst/>
          </a:prstGeom>
          <a:noFill/>
        </p:spPr>
        <p:txBody>
          <a:bodyPr wrap="square" rtlCol="0">
            <a:noAutofit/>
          </a:bodyPr>
          <a:p>
            <a:endParaRPr lang="en-GB" altLang="en-US"/>
          </a:p>
        </p:txBody>
      </p:sp>
      <p:pic>
        <p:nvPicPr>
          <p:cNvPr id="5" name="Picture 4" descr="M22"/>
          <p:cNvPicPr>
            <a:picLocks noChangeAspect="1"/>
          </p:cNvPicPr>
          <p:nvPr/>
        </p:nvPicPr>
        <p:blipFill>
          <a:blip r:embed="rId2"/>
          <a:stretch>
            <a:fillRect/>
          </a:stretch>
        </p:blipFill>
        <p:spPr>
          <a:xfrm>
            <a:off x="6490335" y="1599565"/>
            <a:ext cx="5295900" cy="4887595"/>
          </a:xfrm>
          <a:prstGeom prst="rect">
            <a:avLst/>
          </a:prstGeom>
        </p:spPr>
      </p:pic>
      <p:pic>
        <p:nvPicPr>
          <p:cNvPr id="7" name="Picture 6"/>
          <p:cNvPicPr>
            <a:picLocks noChangeAspect="1"/>
          </p:cNvPicPr>
          <p:nvPr/>
        </p:nvPicPr>
        <p:blipFill>
          <a:blip r:embed="rId3"/>
          <a:stretch>
            <a:fillRect/>
          </a:stretch>
        </p:blipFill>
        <p:spPr>
          <a:xfrm>
            <a:off x="353060" y="4644390"/>
            <a:ext cx="3590925" cy="2213610"/>
          </a:xfrm>
          <a:prstGeom prst="rect">
            <a:avLst/>
          </a:prstGeom>
        </p:spPr>
      </p:pic>
      <p:sp>
        <p:nvSpPr>
          <p:cNvPr id="2" name="Text Box 1"/>
          <p:cNvSpPr txBox="1"/>
          <p:nvPr/>
        </p:nvSpPr>
        <p:spPr>
          <a:xfrm>
            <a:off x="1934845" y="5651500"/>
            <a:ext cx="8096250" cy="1042670"/>
          </a:xfrm>
          <a:prstGeom prst="rect">
            <a:avLst/>
          </a:prstGeom>
          <a:noFill/>
        </p:spPr>
        <p:txBody>
          <a:bodyPr wrap="square" rtlCol="0">
            <a:noAutofit/>
          </a:bodyPr>
          <a:p>
            <a:endParaRPr lang="en-US" altLang="en-GB"/>
          </a:p>
        </p:txBody>
      </p:sp>
      <p:sp>
        <p:nvSpPr>
          <p:cNvPr id="6" name="Text Box 5"/>
          <p:cNvSpPr txBox="1"/>
          <p:nvPr/>
        </p:nvSpPr>
        <p:spPr>
          <a:xfrm>
            <a:off x="7146925" y="184785"/>
            <a:ext cx="2884170" cy="1414780"/>
          </a:xfrm>
          <a:prstGeom prst="rect">
            <a:avLst/>
          </a:prstGeom>
          <a:noFill/>
        </p:spPr>
        <p:txBody>
          <a:bodyPr wrap="square" rtlCol="0">
            <a:spAutoFit/>
          </a:bodyPr>
          <a:p>
            <a:pPr marL="285750" indent="-285750">
              <a:buFont typeface="Wingdings" panose="05000000000000000000" charset="0"/>
              <a:buChar char="v"/>
            </a:pPr>
            <a:r>
              <a:rPr lang="en-US" altLang="en-GB" sz="1600" b="1">
                <a:solidFill>
                  <a:srgbClr val="7030A0"/>
                </a:solidFill>
                <a:highlight>
                  <a:srgbClr val="00FF00"/>
                </a:highlight>
              </a:rPr>
              <a:t>INSERT DATA INTO</a:t>
            </a:r>
            <a:endParaRPr lang="en-US" altLang="en-GB" sz="1600" b="1">
              <a:solidFill>
                <a:srgbClr val="7030A0"/>
              </a:solidFill>
              <a:highlight>
                <a:srgbClr val="C0C0C0"/>
              </a:highlight>
            </a:endParaRPr>
          </a:p>
          <a:p>
            <a:pPr marL="285750" indent="-285750">
              <a:buFont typeface="Wingdings" panose="05000000000000000000" charset="0"/>
              <a:buChar char="ü"/>
            </a:pPr>
            <a:r>
              <a:rPr lang="en-US" altLang="en-GB" sz="1400" b="1">
                <a:highlight>
                  <a:srgbClr val="FF00FF"/>
                </a:highlight>
              </a:rPr>
              <a:t>BOOKS</a:t>
            </a:r>
            <a:endParaRPr lang="en-US" altLang="en-GB" sz="1400" b="1">
              <a:highlight>
                <a:srgbClr val="C0C0C0"/>
              </a:highlight>
            </a:endParaRPr>
          </a:p>
          <a:p>
            <a:pPr marL="285750" indent="-285750">
              <a:buFont typeface="Wingdings" panose="05000000000000000000" charset="0"/>
              <a:buChar char="ü"/>
            </a:pPr>
            <a:r>
              <a:rPr lang="en-US" altLang="en-GB" sz="1400" b="1">
                <a:highlight>
                  <a:srgbClr val="FF00FF"/>
                </a:highlight>
              </a:rPr>
              <a:t>AUTHOR</a:t>
            </a:r>
            <a:endParaRPr lang="en-US" altLang="en-GB" sz="1400" b="1">
              <a:highlight>
                <a:srgbClr val="C0C0C0"/>
              </a:highlight>
            </a:endParaRPr>
          </a:p>
          <a:p>
            <a:pPr marL="285750" indent="-285750">
              <a:buFont typeface="Wingdings" panose="05000000000000000000" charset="0"/>
              <a:buChar char="ü"/>
            </a:pPr>
            <a:r>
              <a:rPr lang="en-US" altLang="en-GB" sz="1400" b="1">
                <a:highlight>
                  <a:srgbClr val="FF00FF"/>
                </a:highlight>
              </a:rPr>
              <a:t>BORROWER</a:t>
            </a:r>
            <a:endParaRPr lang="en-US" altLang="en-GB" sz="1400" b="1">
              <a:highlight>
                <a:srgbClr val="C0C0C0"/>
              </a:highlight>
            </a:endParaRPr>
          </a:p>
          <a:p>
            <a:pPr marL="285750" indent="-285750">
              <a:buFont typeface="Wingdings" panose="05000000000000000000" charset="0"/>
              <a:buChar char="ü"/>
            </a:pPr>
            <a:r>
              <a:rPr lang="en-US" altLang="en-GB" sz="1400" b="1">
                <a:highlight>
                  <a:srgbClr val="FF00FF"/>
                </a:highlight>
              </a:rPr>
              <a:t>LOAN</a:t>
            </a:r>
            <a:endParaRPr lang="en-US" altLang="en-GB" sz="1400" b="1">
              <a:highlight>
                <a:srgbClr val="C0C0C0"/>
              </a:highlight>
            </a:endParaRPr>
          </a:p>
          <a:p>
            <a:pPr marL="285750" indent="-285750">
              <a:buFont typeface="Wingdings" panose="05000000000000000000" charset="0"/>
              <a:buChar char="ü"/>
            </a:pPr>
            <a:r>
              <a:rPr lang="en-US" altLang="en-GB" sz="1400" b="1">
                <a:highlight>
                  <a:srgbClr val="FF00FF"/>
                </a:highlight>
              </a:rPr>
              <a:t>BOOKAUTHOR</a:t>
            </a:r>
            <a:endParaRPr lang="en-US" altLang="en-GB" sz="1400" b="1">
              <a:highlight>
                <a:srgbClr val="FF00FF"/>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62965" y="399415"/>
            <a:ext cx="3003550" cy="1753235"/>
          </a:xfrm>
          <a:prstGeom prst="rect">
            <a:avLst/>
          </a:prstGeom>
          <a:noFill/>
        </p:spPr>
        <p:txBody>
          <a:bodyPr wrap="square" rtlCol="0">
            <a:spAutoFit/>
          </a:bodyPr>
          <a:p>
            <a:pPr marL="285750" indent="-285750">
              <a:buFont typeface="Wingdings" panose="05000000000000000000" charset="0"/>
              <a:buChar char="o"/>
            </a:pPr>
            <a:r>
              <a:rPr lang="en-US" altLang="en-GB"/>
              <a:t>select all table</a:t>
            </a:r>
            <a:endParaRPr lang="en-US" altLang="en-GB"/>
          </a:p>
          <a:p>
            <a:pPr marL="285750" indent="-285750">
              <a:buFont typeface="Wingdings" panose="05000000000000000000" charset="0"/>
              <a:buChar char="ü"/>
            </a:pPr>
            <a:r>
              <a:rPr lang="en-US" altLang="en-GB"/>
              <a:t>select*from books</a:t>
            </a:r>
            <a:endParaRPr lang="en-US" altLang="en-GB"/>
          </a:p>
          <a:p>
            <a:pPr marL="285750" indent="-285750">
              <a:buFont typeface="Wingdings" panose="05000000000000000000" charset="0"/>
              <a:buChar char="ü"/>
            </a:pPr>
            <a:r>
              <a:rPr lang="en-US" altLang="en-GB"/>
              <a:t>select*from author</a:t>
            </a:r>
            <a:endParaRPr lang="en-US" altLang="en-GB"/>
          </a:p>
          <a:p>
            <a:pPr marL="285750" indent="-285750">
              <a:buFont typeface="Wingdings" panose="05000000000000000000" charset="0"/>
              <a:buChar char="ü"/>
            </a:pPr>
            <a:r>
              <a:rPr lang="en-US" altLang="en-GB"/>
              <a:t>select*from bookauthor</a:t>
            </a:r>
            <a:endParaRPr lang="en-US" altLang="en-GB"/>
          </a:p>
          <a:p>
            <a:pPr marL="285750" indent="-285750">
              <a:buFont typeface="Wingdings" panose="05000000000000000000" charset="0"/>
              <a:buChar char="ü"/>
            </a:pPr>
            <a:r>
              <a:rPr lang="en-US" altLang="en-GB"/>
              <a:t>select*loan</a:t>
            </a:r>
            <a:endParaRPr lang="en-US" altLang="en-GB"/>
          </a:p>
          <a:p>
            <a:pPr marL="285750" indent="-285750">
              <a:buFont typeface="Wingdings" panose="05000000000000000000" charset="0"/>
              <a:buChar char="ü"/>
            </a:pPr>
            <a:r>
              <a:rPr lang="en-US" altLang="en-GB"/>
              <a:t>select*from borrower</a:t>
            </a:r>
            <a:endParaRPr lang="en-US" altLang="en-GB"/>
          </a:p>
        </p:txBody>
      </p:sp>
      <p:pic>
        <p:nvPicPr>
          <p:cNvPr id="4" name="Picture 3"/>
          <p:cNvPicPr>
            <a:picLocks noChangeAspect="1"/>
          </p:cNvPicPr>
          <p:nvPr/>
        </p:nvPicPr>
        <p:blipFill>
          <a:blip r:embed="rId1"/>
          <a:stretch>
            <a:fillRect/>
          </a:stretch>
        </p:blipFill>
        <p:spPr>
          <a:xfrm>
            <a:off x="3650615" y="3669665"/>
            <a:ext cx="3032760" cy="2045970"/>
          </a:xfrm>
          <a:prstGeom prst="rect">
            <a:avLst/>
          </a:prstGeom>
        </p:spPr>
      </p:pic>
      <p:pic>
        <p:nvPicPr>
          <p:cNvPr id="6" name="Picture 5"/>
          <p:cNvPicPr>
            <a:picLocks noChangeAspect="1"/>
          </p:cNvPicPr>
          <p:nvPr/>
        </p:nvPicPr>
        <p:blipFill>
          <a:blip r:embed="rId2"/>
          <a:stretch>
            <a:fillRect/>
          </a:stretch>
        </p:blipFill>
        <p:spPr>
          <a:xfrm>
            <a:off x="8467725" y="3234055"/>
            <a:ext cx="2287905" cy="2900680"/>
          </a:xfrm>
          <a:prstGeom prst="rect">
            <a:avLst/>
          </a:prstGeom>
        </p:spPr>
      </p:pic>
      <p:pic>
        <p:nvPicPr>
          <p:cNvPr id="7" name="Picture 6"/>
          <p:cNvPicPr>
            <a:picLocks noChangeAspect="1"/>
          </p:cNvPicPr>
          <p:nvPr/>
        </p:nvPicPr>
        <p:blipFill>
          <a:blip r:embed="rId3"/>
          <a:stretch>
            <a:fillRect/>
          </a:stretch>
        </p:blipFill>
        <p:spPr>
          <a:xfrm>
            <a:off x="4904740" y="52705"/>
            <a:ext cx="2261870" cy="2872105"/>
          </a:xfrm>
          <a:prstGeom prst="rect">
            <a:avLst/>
          </a:prstGeom>
        </p:spPr>
      </p:pic>
      <p:pic>
        <p:nvPicPr>
          <p:cNvPr id="8" name="Picture 7"/>
          <p:cNvPicPr>
            <a:picLocks noChangeAspect="1"/>
          </p:cNvPicPr>
          <p:nvPr/>
        </p:nvPicPr>
        <p:blipFill>
          <a:blip r:embed="rId4"/>
          <a:stretch>
            <a:fillRect/>
          </a:stretch>
        </p:blipFill>
        <p:spPr>
          <a:xfrm>
            <a:off x="8467725" y="316865"/>
            <a:ext cx="2807970" cy="2607945"/>
          </a:xfrm>
          <a:prstGeom prst="rect">
            <a:avLst/>
          </a:prstGeom>
        </p:spPr>
      </p:pic>
      <p:pic>
        <p:nvPicPr>
          <p:cNvPr id="9" name="Picture 8"/>
          <p:cNvPicPr>
            <a:picLocks noChangeAspect="1"/>
          </p:cNvPicPr>
          <p:nvPr/>
        </p:nvPicPr>
        <p:blipFill>
          <a:blip r:embed="rId5"/>
          <a:stretch>
            <a:fillRect/>
          </a:stretch>
        </p:blipFill>
        <p:spPr>
          <a:xfrm>
            <a:off x="765810" y="2383790"/>
            <a:ext cx="2181225" cy="39503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298450" y="345440"/>
            <a:ext cx="11595735" cy="414655"/>
          </a:xfrm>
          <a:prstGeom prst="rect">
            <a:avLst/>
          </a:prstGeom>
          <a:noFill/>
        </p:spPr>
        <p:txBody>
          <a:bodyPr wrap="square" rtlCol="0">
            <a:noAutofit/>
          </a:bodyPr>
          <a:p>
            <a:endParaRPr lang="en-US" altLang="en-GB"/>
          </a:p>
          <a:p>
            <a:r>
              <a:rPr lang="en-US" altLang="en-GB" b="1"/>
              <a:t>1,select*from books</a:t>
            </a:r>
            <a:r>
              <a:rPr lang="en-US" altLang="en-GB"/>
              <a:t>;</a:t>
            </a:r>
            <a:endParaRPr lang="en-US" altLang="en-GB"/>
          </a:p>
          <a:p>
            <a:endParaRPr lang="en-US" altLang="en-GB"/>
          </a:p>
        </p:txBody>
      </p:sp>
      <p:pic>
        <p:nvPicPr>
          <p:cNvPr id="5" name="Picture 4" descr="l1m"/>
          <p:cNvPicPr>
            <a:picLocks noChangeAspect="1"/>
          </p:cNvPicPr>
          <p:nvPr/>
        </p:nvPicPr>
        <p:blipFill>
          <a:blip r:embed="rId1"/>
          <a:stretch>
            <a:fillRect/>
          </a:stretch>
        </p:blipFill>
        <p:spPr>
          <a:xfrm>
            <a:off x="468630" y="1163955"/>
            <a:ext cx="7721600" cy="53244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443230" y="2813685"/>
            <a:ext cx="4377055" cy="702945"/>
          </a:xfrm>
          <a:prstGeom prst="rect">
            <a:avLst/>
          </a:prstGeom>
          <a:noFill/>
        </p:spPr>
        <p:txBody>
          <a:bodyPr wrap="square" rtlCol="0">
            <a:noAutofit/>
          </a:bodyPr>
          <a:p>
            <a:r>
              <a:rPr lang="en-US" altLang="en-GB" b="1">
                <a:solidFill>
                  <a:srgbClr val="00B050"/>
                </a:solidFill>
              </a:rPr>
              <a:t>3,select distinct genere from books;</a:t>
            </a:r>
            <a:endParaRPr lang="en-US" altLang="en-GB" b="1">
              <a:solidFill>
                <a:srgbClr val="00B050"/>
              </a:solidFill>
            </a:endParaRPr>
          </a:p>
          <a:p>
            <a:endParaRPr lang="en-US" altLang="en-GB"/>
          </a:p>
          <a:p>
            <a:endParaRPr lang="en-US" altLang="en-GB"/>
          </a:p>
          <a:p>
            <a:endParaRPr lang="en-US" altLang="en-GB"/>
          </a:p>
          <a:p>
            <a:endParaRPr lang="en-US" altLang="en-GB"/>
          </a:p>
        </p:txBody>
      </p:sp>
      <p:pic>
        <p:nvPicPr>
          <p:cNvPr id="5" name="Picture 4" descr="l3"/>
          <p:cNvPicPr>
            <a:picLocks noChangeAspect="1"/>
          </p:cNvPicPr>
          <p:nvPr/>
        </p:nvPicPr>
        <p:blipFill>
          <a:blip r:embed="rId1"/>
          <a:stretch>
            <a:fillRect/>
          </a:stretch>
        </p:blipFill>
        <p:spPr>
          <a:xfrm>
            <a:off x="601980" y="3371215"/>
            <a:ext cx="3590925" cy="2995930"/>
          </a:xfrm>
          <a:prstGeom prst="rect">
            <a:avLst/>
          </a:prstGeom>
        </p:spPr>
      </p:pic>
      <p:sp>
        <p:nvSpPr>
          <p:cNvPr id="6" name="Text Box 5"/>
          <p:cNvSpPr txBox="1"/>
          <p:nvPr/>
        </p:nvSpPr>
        <p:spPr>
          <a:xfrm>
            <a:off x="7446010" y="457200"/>
            <a:ext cx="4377055" cy="645160"/>
          </a:xfrm>
          <a:prstGeom prst="rect">
            <a:avLst/>
          </a:prstGeom>
          <a:noFill/>
        </p:spPr>
        <p:txBody>
          <a:bodyPr wrap="square" rtlCol="0">
            <a:spAutoFit/>
          </a:bodyPr>
          <a:p>
            <a:r>
              <a:rPr lang="en-US" altLang="en-GB" b="1">
                <a:solidFill>
                  <a:srgbClr val="FF0000"/>
                </a:solidFill>
              </a:rPr>
              <a:t>4,select count(*)from books;</a:t>
            </a:r>
            <a:endParaRPr lang="en-US" altLang="en-GB" b="1">
              <a:solidFill>
                <a:srgbClr val="FF0000"/>
              </a:solidFill>
            </a:endParaRPr>
          </a:p>
          <a:p>
            <a:endParaRPr lang="en-US" altLang="en-GB" b="1">
              <a:solidFill>
                <a:srgbClr val="FF0000"/>
              </a:solidFill>
            </a:endParaRPr>
          </a:p>
        </p:txBody>
      </p:sp>
      <p:pic>
        <p:nvPicPr>
          <p:cNvPr id="7" name="Picture 6" descr="l4"/>
          <p:cNvPicPr>
            <a:picLocks noChangeAspect="1"/>
          </p:cNvPicPr>
          <p:nvPr/>
        </p:nvPicPr>
        <p:blipFill>
          <a:blip r:embed="rId2"/>
          <a:srcRect r="36096" b="25376"/>
          <a:stretch>
            <a:fillRect/>
          </a:stretch>
        </p:blipFill>
        <p:spPr>
          <a:xfrm>
            <a:off x="7538720" y="1322070"/>
            <a:ext cx="4192270" cy="2994660"/>
          </a:xfrm>
          <a:prstGeom prst="rect">
            <a:avLst/>
          </a:prstGeom>
        </p:spPr>
      </p:pic>
      <p:pic>
        <p:nvPicPr>
          <p:cNvPr id="12" name="Picture 11" descr="l2"/>
          <p:cNvPicPr>
            <a:picLocks noChangeAspect="1"/>
          </p:cNvPicPr>
          <p:nvPr/>
        </p:nvPicPr>
        <p:blipFill>
          <a:blip r:embed="rId3"/>
          <a:stretch>
            <a:fillRect/>
          </a:stretch>
        </p:blipFill>
        <p:spPr>
          <a:xfrm>
            <a:off x="182880" y="836295"/>
            <a:ext cx="5997575" cy="1977390"/>
          </a:xfrm>
          <a:prstGeom prst="rect">
            <a:avLst/>
          </a:prstGeom>
        </p:spPr>
      </p:pic>
      <p:sp>
        <p:nvSpPr>
          <p:cNvPr id="18" name="Text Box 17"/>
          <p:cNvSpPr txBox="1"/>
          <p:nvPr/>
        </p:nvSpPr>
        <p:spPr>
          <a:xfrm>
            <a:off x="278765" y="332740"/>
            <a:ext cx="4820920" cy="368300"/>
          </a:xfrm>
          <a:prstGeom prst="rect">
            <a:avLst/>
          </a:prstGeom>
          <a:noFill/>
        </p:spPr>
        <p:txBody>
          <a:bodyPr wrap="square" rtlCol="0">
            <a:spAutoFit/>
          </a:bodyPr>
          <a:p>
            <a:r>
              <a:rPr lang="en-US" altLang="en-GB">
                <a:sym typeface="+mn-ea"/>
              </a:rPr>
              <a:t>2,select*from books WHERE genere='drama';</a:t>
            </a:r>
            <a:endParaRPr lang="en-GB"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4" descr="l7"/>
          <p:cNvPicPr>
            <a:picLocks noChangeAspect="1"/>
          </p:cNvPicPr>
          <p:nvPr/>
        </p:nvPicPr>
        <p:blipFill>
          <a:blip r:embed="rId1"/>
          <a:stretch>
            <a:fillRect/>
          </a:stretch>
        </p:blipFill>
        <p:spPr>
          <a:xfrm>
            <a:off x="1184910" y="1393825"/>
            <a:ext cx="5699125" cy="5153025"/>
          </a:xfrm>
          <a:prstGeom prst="rect">
            <a:avLst/>
          </a:prstGeom>
        </p:spPr>
      </p:pic>
      <p:sp>
        <p:nvSpPr>
          <p:cNvPr id="8" name="Text Box 7"/>
          <p:cNvSpPr txBox="1"/>
          <p:nvPr/>
        </p:nvSpPr>
        <p:spPr>
          <a:xfrm>
            <a:off x="748665" y="142875"/>
            <a:ext cx="5441950" cy="1346200"/>
          </a:xfrm>
          <a:prstGeom prst="rect">
            <a:avLst/>
          </a:prstGeom>
          <a:noFill/>
        </p:spPr>
        <p:txBody>
          <a:bodyPr wrap="square" rtlCol="0">
            <a:noAutofit/>
          </a:bodyPr>
          <a:p>
            <a:r>
              <a:rPr lang="en-US" altLang="en-GB" b="1">
                <a:solidFill>
                  <a:srgbClr val="0070C0"/>
                </a:solidFill>
              </a:rPr>
              <a:t>5,select B.title, A.authorname</a:t>
            </a:r>
            <a:endParaRPr lang="en-US" altLang="en-GB" b="1">
              <a:solidFill>
                <a:srgbClr val="0070C0"/>
              </a:solidFill>
            </a:endParaRPr>
          </a:p>
          <a:p>
            <a:r>
              <a:rPr lang="en-US" altLang="en-GB" b="1">
                <a:solidFill>
                  <a:srgbClr val="0070C0"/>
                </a:solidFill>
              </a:rPr>
              <a:t>from books B</a:t>
            </a:r>
            <a:endParaRPr lang="en-US" altLang="en-GB" b="1">
              <a:solidFill>
                <a:srgbClr val="0070C0"/>
              </a:solidFill>
            </a:endParaRPr>
          </a:p>
          <a:p>
            <a:r>
              <a:rPr lang="en-US" altLang="en-GB" b="1">
                <a:solidFill>
                  <a:srgbClr val="0070C0"/>
                </a:solidFill>
              </a:rPr>
              <a:t>JOIN bookAuthor BA ON B.bookID=BA.bookID </a:t>
            </a:r>
            <a:endParaRPr lang="en-US" altLang="en-GB" b="1">
              <a:solidFill>
                <a:srgbClr val="0070C0"/>
              </a:solidFill>
            </a:endParaRPr>
          </a:p>
          <a:p>
            <a:r>
              <a:rPr lang="en-US" altLang="en-GB" b="1">
                <a:solidFill>
                  <a:srgbClr val="0070C0"/>
                </a:solidFill>
              </a:rPr>
              <a:t>JOIN author A ON BA.authorID=A.authorID;</a:t>
            </a:r>
            <a:endParaRPr lang="en-US" altLang="en-GB" b="1">
              <a:solidFill>
                <a:srgbClr val="0070C0"/>
              </a:solidFill>
            </a:endParaRPr>
          </a:p>
          <a:p>
            <a:endParaRPr lang="en-US" altLang="en-GB" b="1">
              <a:solidFill>
                <a:srgbClr val="0070C0"/>
              </a:solidFill>
            </a:endParaRPr>
          </a:p>
          <a:p>
            <a:endParaRPr lang="en-US" altLang="en-GB" b="1">
              <a:solidFill>
                <a:srgbClr val="0070C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04165" y="396240"/>
            <a:ext cx="5183505" cy="2030095"/>
          </a:xfrm>
          <a:prstGeom prst="rect">
            <a:avLst/>
          </a:prstGeom>
          <a:solidFill>
            <a:schemeClr val="bg1"/>
          </a:solidFill>
        </p:spPr>
        <p:txBody>
          <a:bodyPr wrap="square" rtlCol="0">
            <a:spAutoFit/>
          </a:bodyPr>
          <a:p>
            <a:r>
              <a:rPr lang="en-US" altLang="en-GB"/>
              <a:t>6,select A.authorname </a:t>
            </a:r>
            <a:endParaRPr lang="en-US" altLang="en-GB"/>
          </a:p>
          <a:p>
            <a:r>
              <a:rPr lang="en-US" altLang="en-GB"/>
              <a:t>from author A</a:t>
            </a:r>
            <a:endParaRPr lang="en-US" altLang="en-GB"/>
          </a:p>
          <a:p>
            <a:r>
              <a:rPr lang="en-US" altLang="en-GB"/>
              <a:t>join bookAuthor BA ON A.authorID = BA.authorID</a:t>
            </a:r>
            <a:endParaRPr lang="en-US" altLang="en-GB"/>
          </a:p>
          <a:p>
            <a:r>
              <a:rPr lang="en-US" altLang="en-GB"/>
              <a:t>GROUP BY A.authorname </a:t>
            </a:r>
            <a:endParaRPr lang="en-US" altLang="en-GB"/>
          </a:p>
          <a:p>
            <a:r>
              <a:rPr lang="en-US" altLang="en-GB"/>
              <a:t>having count (BA.bookID)&gt;5;</a:t>
            </a:r>
            <a:endParaRPr lang="en-US" altLang="en-GB"/>
          </a:p>
          <a:p>
            <a:endParaRPr lang="en-US" altLang="en-GB"/>
          </a:p>
          <a:p>
            <a:endParaRPr lang="en-US" altLang="en-GB"/>
          </a:p>
        </p:txBody>
      </p:sp>
      <p:pic>
        <p:nvPicPr>
          <p:cNvPr id="3" name="Picture 2" descr="l6"/>
          <p:cNvPicPr>
            <a:picLocks noChangeAspect="1"/>
          </p:cNvPicPr>
          <p:nvPr/>
        </p:nvPicPr>
        <p:blipFill>
          <a:blip r:embed="rId1"/>
          <a:stretch>
            <a:fillRect/>
          </a:stretch>
        </p:blipFill>
        <p:spPr>
          <a:xfrm>
            <a:off x="685165" y="2648585"/>
            <a:ext cx="3918585" cy="2682875"/>
          </a:xfrm>
          <a:prstGeom prst="rect">
            <a:avLst/>
          </a:prstGeom>
        </p:spPr>
      </p:pic>
      <p:sp>
        <p:nvSpPr>
          <p:cNvPr id="4" name="Text Box 3"/>
          <p:cNvSpPr txBox="1"/>
          <p:nvPr/>
        </p:nvSpPr>
        <p:spPr>
          <a:xfrm>
            <a:off x="6431280" y="281940"/>
            <a:ext cx="5531485" cy="1476375"/>
          </a:xfrm>
          <a:prstGeom prst="rect">
            <a:avLst/>
          </a:prstGeom>
          <a:noFill/>
        </p:spPr>
        <p:txBody>
          <a:bodyPr wrap="square" rtlCol="0">
            <a:spAutoFit/>
          </a:bodyPr>
          <a:p>
            <a:r>
              <a:rPr lang="en-US" altLang="en-GB" b="1">
                <a:solidFill>
                  <a:srgbClr val="7030A0"/>
                </a:solidFill>
              </a:rPr>
              <a:t>7,SELECT bor.borrowerName , B.title</a:t>
            </a:r>
            <a:endParaRPr lang="en-US" altLang="en-GB" b="1">
              <a:solidFill>
                <a:srgbClr val="7030A0"/>
              </a:solidFill>
            </a:endParaRPr>
          </a:p>
          <a:p>
            <a:r>
              <a:rPr lang="en-US" altLang="en-GB" b="1">
                <a:solidFill>
                  <a:srgbClr val="7030A0"/>
                </a:solidFill>
              </a:rPr>
              <a:t>from borrower Bor</a:t>
            </a:r>
            <a:endParaRPr lang="en-US" altLang="en-GB" b="1">
              <a:solidFill>
                <a:srgbClr val="7030A0"/>
              </a:solidFill>
            </a:endParaRPr>
          </a:p>
          <a:p>
            <a:r>
              <a:rPr lang="en-US" altLang="en-GB" b="1">
                <a:solidFill>
                  <a:srgbClr val="7030A0"/>
                </a:solidFill>
              </a:rPr>
              <a:t>join loan L ON Bor.borrowerID=L.borrowerID</a:t>
            </a:r>
            <a:endParaRPr lang="en-US" altLang="en-GB" b="1">
              <a:solidFill>
                <a:srgbClr val="7030A0"/>
              </a:solidFill>
            </a:endParaRPr>
          </a:p>
          <a:p>
            <a:r>
              <a:rPr lang="en-US" altLang="en-GB" b="1">
                <a:solidFill>
                  <a:srgbClr val="7030A0"/>
                </a:solidFill>
              </a:rPr>
              <a:t>JOIN books B ON L.bookID=B.bookID;</a:t>
            </a:r>
            <a:endParaRPr lang="en-US" altLang="en-GB" b="1">
              <a:solidFill>
                <a:srgbClr val="7030A0"/>
              </a:solidFill>
            </a:endParaRPr>
          </a:p>
          <a:p>
            <a:endParaRPr lang="en-US" altLang="en-GB" b="1">
              <a:solidFill>
                <a:srgbClr val="7030A0"/>
              </a:solidFill>
            </a:endParaRPr>
          </a:p>
        </p:txBody>
      </p:sp>
      <p:pic>
        <p:nvPicPr>
          <p:cNvPr id="5" name="Picture 4" descr="l7"/>
          <p:cNvPicPr>
            <a:picLocks noChangeAspect="1"/>
          </p:cNvPicPr>
          <p:nvPr/>
        </p:nvPicPr>
        <p:blipFill>
          <a:blip r:embed="rId2"/>
          <a:stretch>
            <a:fillRect/>
          </a:stretch>
        </p:blipFill>
        <p:spPr>
          <a:xfrm>
            <a:off x="6246495" y="1758315"/>
            <a:ext cx="5521960" cy="4992370"/>
          </a:xfrm>
          <a:prstGeom prst="rect">
            <a:avLst/>
          </a:prstGeom>
        </p:spPr>
      </p:pic>
      <p:cxnSp>
        <p:nvCxnSpPr>
          <p:cNvPr id="6" name="Straight Connector 5"/>
          <p:cNvCxnSpPr/>
          <p:nvPr/>
        </p:nvCxnSpPr>
        <p:spPr>
          <a:xfrm>
            <a:off x="5670550" y="0"/>
            <a:ext cx="25400" cy="6850380"/>
          </a:xfrm>
          <a:prstGeom prst="lin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63295" y="472440"/>
            <a:ext cx="9870440" cy="1476375"/>
          </a:xfrm>
          <a:prstGeom prst="rect">
            <a:avLst/>
          </a:prstGeom>
          <a:noFill/>
        </p:spPr>
        <p:txBody>
          <a:bodyPr wrap="square" rtlCol="0">
            <a:spAutoFit/>
          </a:bodyPr>
          <a:p>
            <a:r>
              <a:rPr lang="en-US" altLang="en-GB" b="1">
                <a:solidFill>
                  <a:srgbClr val="00B050"/>
                </a:solidFill>
              </a:rPr>
              <a:t>8,select bor.borrowerName ,</a:t>
            </a:r>
            <a:endParaRPr lang="en-US" altLang="en-GB" b="1">
              <a:solidFill>
                <a:srgbClr val="00B050"/>
              </a:solidFill>
            </a:endParaRPr>
          </a:p>
          <a:p>
            <a:r>
              <a:rPr lang="en-US" altLang="en-GB" b="1">
                <a:solidFill>
                  <a:srgbClr val="00B050"/>
                </a:solidFill>
              </a:rPr>
              <a:t>count (L.bookID) AS NumberOfBooksBorrowed</a:t>
            </a:r>
            <a:endParaRPr lang="en-US" altLang="en-GB" b="1">
              <a:solidFill>
                <a:srgbClr val="00B050"/>
              </a:solidFill>
            </a:endParaRPr>
          </a:p>
          <a:p>
            <a:r>
              <a:rPr lang="en-US" altLang="en-GB" b="1">
                <a:solidFill>
                  <a:srgbClr val="00B050"/>
                </a:solidFill>
              </a:rPr>
              <a:t>from borrower Bor </a:t>
            </a:r>
            <a:endParaRPr lang="en-US" altLang="en-GB" b="1">
              <a:solidFill>
                <a:srgbClr val="00B050"/>
              </a:solidFill>
            </a:endParaRPr>
          </a:p>
          <a:p>
            <a:r>
              <a:rPr lang="en-US" altLang="en-GB" b="1">
                <a:solidFill>
                  <a:srgbClr val="00B050"/>
                </a:solidFill>
              </a:rPr>
              <a:t>left join loan L ON Bor.borrowerID=L.borrowerID </a:t>
            </a:r>
            <a:endParaRPr lang="en-US" altLang="en-GB" b="1">
              <a:solidFill>
                <a:srgbClr val="00B050"/>
              </a:solidFill>
            </a:endParaRPr>
          </a:p>
          <a:p>
            <a:r>
              <a:rPr lang="en-US" altLang="en-GB" b="1">
                <a:solidFill>
                  <a:srgbClr val="00B050"/>
                </a:solidFill>
              </a:rPr>
              <a:t>GROUP BY Bor.borrowerName;</a:t>
            </a:r>
            <a:endParaRPr lang="en-US" altLang="en-GB" b="1">
              <a:solidFill>
                <a:srgbClr val="00B050"/>
              </a:solidFill>
            </a:endParaRPr>
          </a:p>
        </p:txBody>
      </p:sp>
      <p:pic>
        <p:nvPicPr>
          <p:cNvPr id="3" name="Picture 2" descr="l8"/>
          <p:cNvPicPr>
            <a:picLocks noChangeAspect="1"/>
          </p:cNvPicPr>
          <p:nvPr/>
        </p:nvPicPr>
        <p:blipFill>
          <a:blip r:embed="rId1"/>
          <a:stretch>
            <a:fillRect/>
          </a:stretch>
        </p:blipFill>
        <p:spPr>
          <a:xfrm>
            <a:off x="861695" y="2312035"/>
            <a:ext cx="4905375" cy="409067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22630" y="269240"/>
            <a:ext cx="10492105" cy="645160"/>
          </a:xfrm>
          <a:prstGeom prst="rect">
            <a:avLst/>
          </a:prstGeom>
          <a:noFill/>
        </p:spPr>
        <p:txBody>
          <a:bodyPr wrap="square" rtlCol="0">
            <a:spAutoFit/>
          </a:bodyPr>
          <a:p>
            <a:r>
              <a:rPr lang="en-US" altLang="en-GB"/>
              <a:t>9,select * from books WHERE publicationYear ='2024-02-03';</a:t>
            </a:r>
            <a:endParaRPr lang="en-US" altLang="en-GB"/>
          </a:p>
          <a:p>
            <a:endParaRPr lang="en-US" altLang="en-GB"/>
          </a:p>
        </p:txBody>
      </p:sp>
      <p:pic>
        <p:nvPicPr>
          <p:cNvPr id="3" name="Picture 2" descr="l9"/>
          <p:cNvPicPr>
            <a:picLocks noChangeAspect="1"/>
          </p:cNvPicPr>
          <p:nvPr/>
        </p:nvPicPr>
        <p:blipFill>
          <a:blip r:embed="rId1"/>
          <a:stretch>
            <a:fillRect/>
          </a:stretch>
        </p:blipFill>
        <p:spPr>
          <a:xfrm>
            <a:off x="723265" y="1295400"/>
            <a:ext cx="8688705" cy="416877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268095" y="497840"/>
            <a:ext cx="9045575" cy="1476375"/>
          </a:xfrm>
          <a:prstGeom prst="rect">
            <a:avLst/>
          </a:prstGeom>
          <a:noFill/>
        </p:spPr>
        <p:txBody>
          <a:bodyPr wrap="square" rtlCol="0">
            <a:spAutoFit/>
          </a:bodyPr>
          <a:p>
            <a:r>
              <a:rPr lang="en-US" altLang="en-GB"/>
              <a:t>10,select B.title </a:t>
            </a:r>
            <a:endParaRPr lang="en-US" altLang="en-GB"/>
          </a:p>
          <a:p>
            <a:r>
              <a:rPr lang="en-US" altLang="en-GB"/>
              <a:t>from books B </a:t>
            </a:r>
            <a:endParaRPr lang="en-US" altLang="en-GB"/>
          </a:p>
          <a:p>
            <a:r>
              <a:rPr lang="en-US" altLang="en-GB"/>
              <a:t>join loan L ON B.bookID=L.bookID</a:t>
            </a:r>
            <a:endParaRPr lang="en-US" altLang="en-GB"/>
          </a:p>
          <a:p>
            <a:r>
              <a:rPr lang="en-US" altLang="en-GB"/>
              <a:t>WHERE L.loanDate&gt;='05-04-2025';</a:t>
            </a:r>
            <a:endParaRPr lang="en-US" altLang="en-GB"/>
          </a:p>
          <a:p>
            <a:endParaRPr lang="en-US" altLang="en-GB"/>
          </a:p>
        </p:txBody>
      </p:sp>
      <p:pic>
        <p:nvPicPr>
          <p:cNvPr id="3" name="Picture 2" descr="l10"/>
          <p:cNvPicPr>
            <a:picLocks noChangeAspect="1"/>
          </p:cNvPicPr>
          <p:nvPr/>
        </p:nvPicPr>
        <p:blipFill>
          <a:blip r:embed="rId1"/>
          <a:stretch>
            <a:fillRect/>
          </a:stretch>
        </p:blipFill>
        <p:spPr>
          <a:xfrm>
            <a:off x="577215" y="1973580"/>
            <a:ext cx="5859145" cy="425196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71830" y="701040"/>
            <a:ext cx="10568305" cy="922020"/>
          </a:xfrm>
          <a:prstGeom prst="rect">
            <a:avLst/>
          </a:prstGeom>
          <a:noFill/>
        </p:spPr>
        <p:txBody>
          <a:bodyPr wrap="square" rtlCol="0">
            <a:spAutoFit/>
          </a:bodyPr>
          <a:p>
            <a:r>
              <a:rPr lang="en-US" altLang="en-GB" b="1">
                <a:solidFill>
                  <a:srgbClr val="002060"/>
                </a:solidFill>
              </a:rPr>
              <a:t>11,insert into books (bookID, title,genere, publicationYear) values (10320,'sememen','fantasy','2024-01-03' );</a:t>
            </a:r>
            <a:endParaRPr lang="en-US" altLang="en-GB" b="1">
              <a:solidFill>
                <a:srgbClr val="002060"/>
              </a:solidFill>
            </a:endParaRPr>
          </a:p>
          <a:p>
            <a:endParaRPr lang="en-US" altLang="en-GB" b="1">
              <a:solidFill>
                <a:srgbClr val="002060"/>
              </a:solidFill>
            </a:endParaRPr>
          </a:p>
        </p:txBody>
      </p:sp>
      <p:pic>
        <p:nvPicPr>
          <p:cNvPr id="3" name="Picture 2" descr="l11"/>
          <p:cNvPicPr>
            <a:picLocks noChangeAspect="1"/>
          </p:cNvPicPr>
          <p:nvPr/>
        </p:nvPicPr>
        <p:blipFill>
          <a:blip r:embed="rId1"/>
          <a:stretch>
            <a:fillRect/>
          </a:stretch>
        </p:blipFill>
        <p:spPr>
          <a:xfrm>
            <a:off x="671830" y="1623060"/>
            <a:ext cx="7301230" cy="519303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90830" y="408940"/>
            <a:ext cx="10403205" cy="645160"/>
          </a:xfrm>
          <a:prstGeom prst="rect">
            <a:avLst/>
          </a:prstGeom>
          <a:noFill/>
        </p:spPr>
        <p:txBody>
          <a:bodyPr wrap="square" rtlCol="0">
            <a:spAutoFit/>
          </a:bodyPr>
          <a:p>
            <a:r>
              <a:rPr lang="en-US" altLang="en-GB"/>
              <a:t>12,insert into author (authorID,authorname) values (7783,'Isaac Asimov');</a:t>
            </a:r>
            <a:endParaRPr lang="en-US" altLang="en-GB"/>
          </a:p>
          <a:p>
            <a:endParaRPr lang="en-US" altLang="en-GB"/>
          </a:p>
        </p:txBody>
      </p:sp>
      <p:pic>
        <p:nvPicPr>
          <p:cNvPr id="3" name="Picture 2" descr="l12"/>
          <p:cNvPicPr>
            <a:picLocks noChangeAspect="1"/>
          </p:cNvPicPr>
          <p:nvPr/>
        </p:nvPicPr>
        <p:blipFill>
          <a:blip r:embed="rId1"/>
          <a:stretch>
            <a:fillRect/>
          </a:stretch>
        </p:blipFill>
        <p:spPr>
          <a:xfrm>
            <a:off x="993140" y="949325"/>
            <a:ext cx="4711065" cy="575373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46430" y="332740"/>
            <a:ext cx="9464040" cy="645160"/>
          </a:xfrm>
          <a:prstGeom prst="rect">
            <a:avLst/>
          </a:prstGeom>
          <a:noFill/>
        </p:spPr>
        <p:txBody>
          <a:bodyPr wrap="square" rtlCol="0">
            <a:spAutoFit/>
          </a:bodyPr>
          <a:p>
            <a:r>
              <a:rPr lang="en-US" altLang="en-GB">
                <a:solidFill>
                  <a:schemeClr val="tx1"/>
                </a:solidFill>
              </a:rPr>
              <a:t>13,</a:t>
            </a:r>
            <a:r>
              <a:rPr lang="en-US" altLang="en-GB">
                <a:solidFill>
                  <a:srgbClr val="FF0000"/>
                </a:solidFill>
              </a:rPr>
              <a:t>update </a:t>
            </a:r>
            <a:r>
              <a:rPr lang="en-US" altLang="en-GB"/>
              <a:t>books set title ='school life'  </a:t>
            </a:r>
            <a:r>
              <a:rPr lang="en-US" altLang="en-GB">
                <a:solidFill>
                  <a:srgbClr val="FF0000"/>
                </a:solidFill>
              </a:rPr>
              <a:t>where</a:t>
            </a:r>
            <a:r>
              <a:rPr lang="en-US" altLang="en-GB"/>
              <a:t> bookID=1010;</a:t>
            </a:r>
            <a:endParaRPr lang="en-US" altLang="en-GB"/>
          </a:p>
          <a:p>
            <a:endParaRPr lang="en-US" altLang="en-GB"/>
          </a:p>
        </p:txBody>
      </p:sp>
      <p:pic>
        <p:nvPicPr>
          <p:cNvPr id="3" name="Picture 2" descr="l13ee"/>
          <p:cNvPicPr>
            <a:picLocks noChangeAspect="1"/>
          </p:cNvPicPr>
          <p:nvPr/>
        </p:nvPicPr>
        <p:blipFill>
          <a:blip r:embed="rId1"/>
          <a:stretch>
            <a:fillRect/>
          </a:stretch>
        </p:blipFill>
        <p:spPr>
          <a:xfrm>
            <a:off x="1728470" y="977900"/>
            <a:ext cx="8051800" cy="560324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44830" y="485140"/>
            <a:ext cx="9070975" cy="368300"/>
          </a:xfrm>
          <a:prstGeom prst="rect">
            <a:avLst/>
          </a:prstGeom>
          <a:noFill/>
        </p:spPr>
        <p:txBody>
          <a:bodyPr wrap="square" rtlCol="0">
            <a:spAutoFit/>
          </a:bodyPr>
          <a:p>
            <a:r>
              <a:rPr lang="en-US" altLang="en-GB"/>
              <a:t>14,delete from  books WHERE title='hamlet' ;</a:t>
            </a:r>
            <a:endParaRPr lang="en-US" altLang="en-GB"/>
          </a:p>
        </p:txBody>
      </p:sp>
      <p:pic>
        <p:nvPicPr>
          <p:cNvPr id="4" name="Picture 3"/>
          <p:cNvPicPr>
            <a:picLocks noChangeAspect="1"/>
          </p:cNvPicPr>
          <p:nvPr/>
        </p:nvPicPr>
        <p:blipFill>
          <a:blip r:embed="rId1"/>
          <a:stretch>
            <a:fillRect/>
          </a:stretch>
        </p:blipFill>
        <p:spPr>
          <a:xfrm>
            <a:off x="452755" y="1242695"/>
            <a:ext cx="10452100" cy="1285875"/>
          </a:xfrm>
          <a:prstGeom prst="rect">
            <a:avLst/>
          </a:prstGeom>
        </p:spPr>
      </p:pic>
      <p:sp>
        <p:nvSpPr>
          <p:cNvPr id="5" name="Text Box 4"/>
          <p:cNvSpPr txBox="1"/>
          <p:nvPr/>
        </p:nvSpPr>
        <p:spPr>
          <a:xfrm>
            <a:off x="512445" y="2948940"/>
            <a:ext cx="10492740" cy="368300"/>
          </a:xfrm>
          <a:prstGeom prst="rect">
            <a:avLst/>
          </a:prstGeom>
          <a:noFill/>
        </p:spPr>
        <p:txBody>
          <a:bodyPr wrap="square" rtlCol="0">
            <a:spAutoFit/>
          </a:bodyPr>
          <a:p>
            <a:endParaRPr lang="en-US" altLang="en-GB"/>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68630" y="396240"/>
            <a:ext cx="10263505" cy="1198880"/>
          </a:xfrm>
          <a:prstGeom prst="rect">
            <a:avLst/>
          </a:prstGeom>
          <a:noFill/>
        </p:spPr>
        <p:txBody>
          <a:bodyPr wrap="square" rtlCol="0">
            <a:spAutoFit/>
          </a:bodyPr>
          <a:p>
            <a:r>
              <a:rPr lang="en-US" altLang="en-GB">
                <a:solidFill>
                  <a:schemeClr val="accent5">
                    <a:lumMod val="50000"/>
                  </a:schemeClr>
                </a:solidFill>
              </a:rPr>
              <a:t>15,select B.title, count(L.bookID) AS borrowcount  from books B </a:t>
            </a:r>
            <a:endParaRPr lang="en-US" altLang="en-GB">
              <a:solidFill>
                <a:schemeClr val="accent5">
                  <a:lumMod val="50000"/>
                </a:schemeClr>
              </a:solidFill>
            </a:endParaRPr>
          </a:p>
          <a:p>
            <a:r>
              <a:rPr lang="en-US" altLang="en-GB">
                <a:solidFill>
                  <a:schemeClr val="accent5">
                    <a:lumMod val="50000"/>
                  </a:schemeClr>
                </a:solidFill>
              </a:rPr>
              <a:t>JOIN loan L ON B.bookID=L.bookID  GROUP BY B.title </a:t>
            </a:r>
            <a:endParaRPr lang="en-US" altLang="en-GB">
              <a:solidFill>
                <a:schemeClr val="accent5">
                  <a:lumMod val="50000"/>
                </a:schemeClr>
              </a:solidFill>
            </a:endParaRPr>
          </a:p>
          <a:p>
            <a:r>
              <a:rPr lang="en-US" altLang="en-GB">
                <a:solidFill>
                  <a:schemeClr val="accent5">
                    <a:lumMod val="50000"/>
                  </a:schemeClr>
                </a:solidFill>
              </a:rPr>
              <a:t>ORDER BY borrowcount DESC;</a:t>
            </a:r>
            <a:endParaRPr lang="en-US" altLang="en-GB">
              <a:solidFill>
                <a:schemeClr val="accent5">
                  <a:lumMod val="50000"/>
                </a:schemeClr>
              </a:solidFill>
            </a:endParaRPr>
          </a:p>
          <a:p>
            <a:endParaRPr lang="en-US" altLang="en-GB">
              <a:solidFill>
                <a:schemeClr val="accent5">
                  <a:lumMod val="50000"/>
                </a:schemeClr>
              </a:solidFill>
            </a:endParaRPr>
          </a:p>
        </p:txBody>
      </p:sp>
      <p:pic>
        <p:nvPicPr>
          <p:cNvPr id="3" name="Picture 2" descr="l15"/>
          <p:cNvPicPr>
            <a:picLocks noChangeAspect="1"/>
          </p:cNvPicPr>
          <p:nvPr/>
        </p:nvPicPr>
        <p:blipFill>
          <a:blip r:embed="rId1"/>
          <a:stretch>
            <a:fillRect/>
          </a:stretch>
        </p:blipFill>
        <p:spPr>
          <a:xfrm>
            <a:off x="716280" y="1452880"/>
            <a:ext cx="5823585" cy="519112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13765" y="160655"/>
            <a:ext cx="9811385" cy="6441440"/>
          </a:xfrm>
          <a:prstGeom prst="rect">
            <a:avLst/>
          </a:prstGeom>
          <a:noFill/>
        </p:spPr>
        <p:txBody>
          <a:bodyPr wrap="square" rtlCol="0">
            <a:noAutofit/>
          </a:bodyPr>
          <a:p>
            <a:r>
              <a:rPr lang="en-US" altLang="en-GB" sz="3200"/>
              <a:t> Deployment Strategy </a:t>
            </a:r>
            <a:endParaRPr lang="en-US" altLang="en-GB"/>
          </a:p>
          <a:p>
            <a:r>
              <a:rPr lang="en-US" altLang="en-GB" b="1" i="1"/>
              <a:t>Definition</a:t>
            </a:r>
            <a:endParaRPr lang="en-US" altLang="en-GB" b="1" i="1"/>
          </a:p>
          <a:p>
            <a:r>
              <a:rPr lang="en-US" altLang="en-GB"/>
              <a:t>Deployment is the process of installing and setting up the Library Catalog System so it can be used by users (e.g., librarians, students) to manage books, authors, loans, events, and attendees. It includes creating the database structure, inserting data, and making it functional and accessible.</a:t>
            </a:r>
            <a:endParaRPr lang="en-US" altLang="en-GB"/>
          </a:p>
          <a:p>
            <a:r>
              <a:rPr lang="en-US" altLang="en-GB" i="1"/>
              <a:t>Deployment Steps</a:t>
            </a:r>
            <a:endParaRPr lang="en-US" altLang="en-GB" i="1"/>
          </a:p>
          <a:p>
            <a:r>
              <a:rPr lang="en-US" altLang="en-GB" sz="2000" b="1">
                <a:solidFill>
                  <a:srgbClr val="C00000"/>
                </a:solidFill>
              </a:rPr>
              <a:t>A. Manual Deployment</a:t>
            </a:r>
            <a:endParaRPr lang="en-US" altLang="en-GB" sz="2000" b="1">
              <a:solidFill>
                <a:srgbClr val="C00000"/>
              </a:solidFill>
            </a:endParaRPr>
          </a:p>
          <a:p>
            <a:r>
              <a:rPr lang="en-US" altLang="en-GB" sz="2000" b="1"/>
              <a:t>1. Install MySQL Server and MySQL Workbench</a:t>
            </a:r>
            <a:endParaRPr lang="en-US" altLang="en-GB" sz="2000" b="1"/>
          </a:p>
          <a:p>
            <a:r>
              <a:rPr lang="en-US" altLang="en-GB"/>
              <a:t>Download and install MySQL Server from the official website.</a:t>
            </a:r>
            <a:endParaRPr lang="en-US" altLang="en-GB"/>
          </a:p>
          <a:p>
            <a:r>
              <a:rPr lang="en-US" altLang="en-GB" sz="2000" b="1"/>
              <a:t>2. Create the Database</a:t>
            </a:r>
            <a:endParaRPr lang="en-US" altLang="en-GB" sz="2000" b="1"/>
          </a:p>
          <a:p>
            <a:r>
              <a:rPr lang="en-US" altLang="en-GB"/>
              <a:t>Start by creating a new database:</a:t>
            </a:r>
            <a:endParaRPr lang="en-US" altLang="en-GB"/>
          </a:p>
          <a:p>
            <a:r>
              <a:rPr lang="en-US" altLang="en-GB"/>
              <a:t>CREATE DATABASE Library;</a:t>
            </a:r>
            <a:endParaRPr lang="en-US" altLang="en-GB"/>
          </a:p>
          <a:p>
            <a:r>
              <a:rPr lang="en-US" altLang="en-GB" sz="2000" b="1"/>
              <a:t>3.Use USE library; to access the DB.</a:t>
            </a:r>
            <a:endParaRPr lang="en-US" altLang="en-GB" sz="2000" b="1"/>
          </a:p>
          <a:p>
            <a:r>
              <a:rPr lang="en-US" altLang="en-GB" sz="2000" b="1"/>
              <a:t>4. Create Tables and Define Relationships</a:t>
            </a:r>
            <a:endParaRPr lang="en-US" altLang="en-GB" sz="2000" b="1"/>
          </a:p>
          <a:p>
            <a:r>
              <a:rPr lang="en-US" altLang="en-GB"/>
              <a:t>Write SQL CREATE TABLE statements with constraints like PRIMARY KEY, FOREIGN KEY, NOT NULL, etc.</a:t>
            </a:r>
            <a:endParaRPr lang="en-US" altLang="en-GB"/>
          </a:p>
          <a:p>
            <a:r>
              <a:rPr lang="en-US" altLang="en-GB"/>
              <a:t>Example:</a:t>
            </a:r>
            <a:endParaRPr lang="en-US" altLang="en-GB"/>
          </a:p>
          <a:p>
            <a:r>
              <a:rPr lang="en-US" altLang="en-GB"/>
              <a:t>CREATE TABLE Authors (</a:t>
            </a:r>
            <a:endParaRPr lang="en-US" altLang="en-GB"/>
          </a:p>
          <a:p>
            <a:r>
              <a:rPr lang="en-US" altLang="en-GB"/>
              <a:t>  AuthorID INT PRIMARY KEY AUTO_INCREMENT,</a:t>
            </a:r>
            <a:endParaRPr lang="en-US" altLang="en-GB"/>
          </a:p>
          <a:p>
            <a:r>
              <a:rPr lang="en-US" altLang="en-GB"/>
              <a:t>  AuthorName VARCHAR(100) NOT NULL</a:t>
            </a:r>
            <a:endParaRPr lang="en-US" altLang="en-GB"/>
          </a:p>
          <a:p>
            <a:r>
              <a:rPr lang="en-US" altLang="en-GB"/>
              <a:t>);</a:t>
            </a:r>
            <a:endParaRPr lang="en-US" altLang="en-GB"/>
          </a:p>
          <a:p>
            <a:r>
              <a:rPr lang="en-US" altLang="en-GB"/>
              <a:t> </a:t>
            </a:r>
            <a:endParaRPr lang="en-US" altLang="en-GB"/>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75030" y="777240"/>
            <a:ext cx="6597015" cy="2237740"/>
          </a:xfrm>
          <a:prstGeom prst="rect">
            <a:avLst/>
          </a:prstGeom>
          <a:noFill/>
        </p:spPr>
        <p:txBody>
          <a:bodyPr wrap="square" rtlCol="0">
            <a:noAutofit/>
          </a:bodyPr>
          <a:p>
            <a:r>
              <a:rPr lang="en-US" altLang="en-GB" sz="2000" b="1">
                <a:sym typeface="+mn-ea"/>
              </a:rPr>
              <a:t>5. Insert Sample Data</a:t>
            </a:r>
            <a:endParaRPr lang="en-US" altLang="en-GB" sz="2000" b="1"/>
          </a:p>
          <a:p>
            <a:r>
              <a:rPr lang="en-US" altLang="en-GB">
                <a:sym typeface="+mn-ea"/>
              </a:rPr>
              <a:t>Populate tables with meaningful data using INSERT INTO:</a:t>
            </a:r>
            <a:endParaRPr lang="en-US" altLang="en-GB"/>
          </a:p>
          <a:p>
            <a:r>
              <a:rPr lang="en-US" altLang="en-GB">
                <a:sym typeface="+mn-ea"/>
              </a:rPr>
              <a:t>INSERT INTO Authors (AuthorName) VALUES ('xxx');</a:t>
            </a:r>
            <a:endParaRPr lang="en-US" altLang="en-GB"/>
          </a:p>
          <a:p>
            <a:r>
              <a:rPr lang="en-US" altLang="en-GB" sz="2000" b="1">
                <a:sym typeface="+mn-ea"/>
              </a:rPr>
              <a:t>6. Run SQL Queries to Test Functionality</a:t>
            </a:r>
            <a:endParaRPr lang="en-US" altLang="en-GB" sz="2000" b="1"/>
          </a:p>
          <a:p>
            <a:r>
              <a:rPr lang="en-US" altLang="en-GB">
                <a:sym typeface="+mn-ea"/>
              </a:rPr>
              <a:t>Execute SELECT, JOIN, and GROUP BY queries to ensure everything is working.</a:t>
            </a:r>
            <a:endParaRPr lang="en-US" altLang="en-GB"/>
          </a:p>
          <a:p>
            <a:endParaRPr lang="en-GB" altLang="en-US"/>
          </a:p>
        </p:txBody>
      </p:sp>
      <p:sp>
        <p:nvSpPr>
          <p:cNvPr id="3" name="Text Box 2"/>
          <p:cNvSpPr txBox="1"/>
          <p:nvPr/>
        </p:nvSpPr>
        <p:spPr>
          <a:xfrm>
            <a:off x="506095" y="2701925"/>
            <a:ext cx="10530205" cy="3731260"/>
          </a:xfrm>
          <a:prstGeom prst="rect">
            <a:avLst/>
          </a:prstGeom>
          <a:noFill/>
        </p:spPr>
        <p:txBody>
          <a:bodyPr wrap="square" rtlCol="0">
            <a:noAutofit/>
          </a:bodyPr>
          <a:p>
            <a:r>
              <a:rPr lang="en-US" altLang="en-GB">
                <a:sym typeface="+mn-ea"/>
              </a:rPr>
              <a:t>B. Optional: Automated Deployment (for advanced use)</a:t>
            </a:r>
            <a:endParaRPr lang="en-US" altLang="en-GB"/>
          </a:p>
          <a:p>
            <a:r>
              <a:rPr lang="en-US" altLang="en-GB">
                <a:sym typeface="+mn-ea"/>
              </a:rPr>
              <a:t>Use a .sql script file with all commands.</a:t>
            </a:r>
            <a:endParaRPr lang="en-US" altLang="en-GB"/>
          </a:p>
          <a:p>
            <a:r>
              <a:rPr lang="en-US" altLang="en-GB">
                <a:sym typeface="+mn-ea"/>
              </a:rPr>
              <a:t>Execute using MySQL Workbench or CLI:</a:t>
            </a:r>
            <a:endParaRPr lang="en-US" altLang="en-GB"/>
          </a:p>
          <a:p>
            <a:r>
              <a:rPr lang="en-US" altLang="en-GB">
                <a:sym typeface="+mn-ea"/>
              </a:rPr>
              <a:t>mysql -u username -p &lt; libraryCatalog.sql</a:t>
            </a:r>
            <a:endParaRPr lang="en-US" altLang="en-GB"/>
          </a:p>
          <a:p>
            <a:r>
              <a:rPr lang="en-US" altLang="en-GB">
                <a:sym typeface="+mn-ea"/>
              </a:rPr>
              <a:t>Automated Deployment:</a:t>
            </a:r>
            <a:endParaRPr lang="en-US" altLang="en-GB"/>
          </a:p>
          <a:p>
            <a:r>
              <a:rPr lang="en-US" altLang="en-GB">
                <a:sym typeface="+mn-ea"/>
              </a:rPr>
              <a:t>1. Write a complete SQL deployment script</a:t>
            </a:r>
            <a:endParaRPr lang="en-US" altLang="en-GB"/>
          </a:p>
          <a:p>
            <a:r>
              <a:rPr lang="en-US" altLang="en-GB">
                <a:sym typeface="+mn-ea"/>
              </a:rPr>
              <a:t>2. Use Docker or container-based deployment with database setup</a:t>
            </a:r>
            <a:endParaRPr lang="en-US" altLang="en-GB"/>
          </a:p>
          <a:p>
            <a:r>
              <a:rPr lang="en-US" altLang="en-GB">
                <a:sym typeface="+mn-ea"/>
              </a:rPr>
              <a:t>3. Schedule regular backups</a:t>
            </a:r>
            <a:endParaRPr lang="en-US" altLang="en-GB"/>
          </a:p>
          <a:p>
            <a:r>
              <a:rPr lang="en-US" altLang="en-GB">
                <a:sym typeface="+mn-ea"/>
              </a:rPr>
              <a:t>4. Integrate with web interface (optional)</a:t>
            </a:r>
            <a:endParaRPr lang="en-US" altLang="en-GB"/>
          </a:p>
          <a:p>
            <a:endParaRPr lang="en-US" altLang="en-GB"/>
          </a:p>
          <a:p>
            <a:endParaRPr lang="en-GB"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60730" y="281940"/>
            <a:ext cx="10111105" cy="3692525"/>
          </a:xfrm>
          <a:prstGeom prst="rect">
            <a:avLst/>
          </a:prstGeom>
          <a:noFill/>
        </p:spPr>
        <p:txBody>
          <a:bodyPr wrap="square" rtlCol="0">
            <a:spAutoFit/>
          </a:bodyPr>
          <a:p>
            <a:r>
              <a:rPr lang="en-US" altLang="en-GB"/>
              <a:t>B. Optional: Automated Deployment (for advanced use)</a:t>
            </a:r>
            <a:endParaRPr lang="en-US" altLang="en-GB"/>
          </a:p>
          <a:p>
            <a:r>
              <a:rPr lang="en-US" altLang="en-GB"/>
              <a:t>Use a .sql script file with all commands.</a:t>
            </a:r>
            <a:endParaRPr lang="en-US" altLang="en-GB"/>
          </a:p>
          <a:p>
            <a:r>
              <a:rPr lang="en-US" altLang="en-GB"/>
              <a:t>Execute using MySQL Workbench or CLI:</a:t>
            </a:r>
            <a:endParaRPr lang="en-US" altLang="en-GB"/>
          </a:p>
          <a:p>
            <a:r>
              <a:rPr lang="en-US" altLang="en-GB"/>
              <a:t>mysql -u username -p &lt; libraryCatalog.sql</a:t>
            </a:r>
            <a:endParaRPr lang="en-US" altLang="en-GB"/>
          </a:p>
          <a:p>
            <a:r>
              <a:rPr lang="en-US" altLang="en-GB"/>
              <a:t>Automated Deployment:</a:t>
            </a:r>
            <a:endParaRPr lang="en-US" altLang="en-GB"/>
          </a:p>
          <a:p>
            <a:r>
              <a:rPr lang="en-US" altLang="en-GB"/>
              <a:t>1. Write a complete SQL deployment script</a:t>
            </a:r>
            <a:endParaRPr lang="en-US" altLang="en-GB"/>
          </a:p>
          <a:p>
            <a:endParaRPr lang="en-US" altLang="en-GB"/>
          </a:p>
          <a:p>
            <a:r>
              <a:rPr lang="en-US" altLang="en-GB"/>
              <a:t>2. Use Docker or container-based deployment with database setup</a:t>
            </a:r>
            <a:endParaRPr lang="en-US" altLang="en-GB"/>
          </a:p>
          <a:p>
            <a:endParaRPr lang="en-US" altLang="en-GB"/>
          </a:p>
          <a:p>
            <a:r>
              <a:rPr lang="en-US" altLang="en-GB"/>
              <a:t>3. Schedule regular backups</a:t>
            </a:r>
            <a:endParaRPr lang="en-US" altLang="en-GB"/>
          </a:p>
          <a:p>
            <a:endParaRPr lang="en-US" altLang="en-GB"/>
          </a:p>
          <a:p>
            <a:r>
              <a:rPr lang="en-US" altLang="en-GB"/>
              <a:t>4. Integrate with web interface (optional)</a:t>
            </a:r>
            <a:endParaRPr lang="en-US" altLang="en-GB"/>
          </a:p>
          <a:p>
            <a:endParaRPr lang="en-US" altLang="en-GB"/>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497965" y="624205"/>
            <a:ext cx="8056880" cy="4799965"/>
          </a:xfrm>
          <a:prstGeom prst="rect">
            <a:avLst/>
          </a:prstGeom>
          <a:noFill/>
        </p:spPr>
        <p:txBody>
          <a:bodyPr wrap="square" rtlCol="0">
            <a:spAutoFit/>
          </a:bodyPr>
          <a:p>
            <a:r>
              <a:rPr lang="en-US" altLang="en-GB">
                <a:sym typeface="+mn-ea"/>
              </a:rPr>
              <a:t>5. Deployment Strategy</a:t>
            </a:r>
            <a:endParaRPr lang="en-US" altLang="en-GB"/>
          </a:p>
          <a:p>
            <a:r>
              <a:rPr lang="en-US" altLang="en-GB">
                <a:sym typeface="+mn-ea"/>
              </a:rPr>
              <a:t>Manual Deployment Steps:</a:t>
            </a:r>
            <a:endParaRPr lang="en-US" altLang="en-GB"/>
          </a:p>
          <a:p>
            <a:r>
              <a:rPr lang="en-US" altLang="en-GB">
                <a:sym typeface="+mn-ea"/>
              </a:rPr>
              <a:t>1. Install MySQL Server.</a:t>
            </a:r>
            <a:endParaRPr lang="en-US" altLang="en-GB"/>
          </a:p>
          <a:p>
            <a:r>
              <a:rPr lang="en-US" altLang="en-GB">
                <a:sym typeface="+mn-ea"/>
              </a:rPr>
              <a:t>2. Create a new database using CREATE DATABASE libraryCatalog;.</a:t>
            </a:r>
            <a:endParaRPr lang="en-US" altLang="en-GB"/>
          </a:p>
          <a:p>
            <a:r>
              <a:rPr lang="en-US" altLang="en-GB">
                <a:sym typeface="+mn-ea"/>
              </a:rPr>
              <a:t>3. Use USE libraryCatalog; to access the DB.</a:t>
            </a:r>
            <a:endParaRPr lang="en-US" altLang="en-GB"/>
          </a:p>
          <a:p>
            <a:r>
              <a:rPr lang="en-US" altLang="en-GB">
                <a:sym typeface="+mn-ea"/>
              </a:rPr>
              <a:t>4. Run table creation scripts.</a:t>
            </a:r>
            <a:endParaRPr lang="en-US" altLang="en-GB"/>
          </a:p>
          <a:p>
            <a:r>
              <a:rPr lang="en-US" altLang="en-GB">
                <a:sym typeface="+mn-ea"/>
              </a:rPr>
              <a:t>5. Insert sample data.</a:t>
            </a:r>
            <a:endParaRPr lang="en-US" altLang="en-GB"/>
          </a:p>
          <a:p>
            <a:r>
              <a:rPr lang="en-US" altLang="en-GB">
                <a:sym typeface="+mn-ea"/>
              </a:rPr>
              <a:t>6. Test queries manually.</a:t>
            </a:r>
            <a:endParaRPr lang="en-US" altLang="en-GB"/>
          </a:p>
          <a:p>
            <a:r>
              <a:rPr lang="en-US" altLang="en-GB">
                <a:sym typeface="+mn-ea"/>
              </a:rPr>
              <a:t>Automated Deployment (optional):</a:t>
            </a:r>
            <a:endParaRPr lang="en-US" altLang="en-GB"/>
          </a:p>
          <a:p>
            <a:r>
              <a:rPr lang="en-US" altLang="en-GB">
                <a:sym typeface="+mn-ea"/>
              </a:rPr>
              <a:t>Use a .sql script file with all commands.</a:t>
            </a:r>
            <a:endParaRPr lang="en-US" altLang="en-GB"/>
          </a:p>
          <a:p>
            <a:r>
              <a:rPr lang="en-US" altLang="en-GB">
                <a:sym typeface="+mn-ea"/>
              </a:rPr>
              <a:t>Execute using MySQL Workbench or CLI:</a:t>
            </a:r>
            <a:endParaRPr lang="en-US" altLang="en-GB"/>
          </a:p>
          <a:p>
            <a:r>
              <a:rPr lang="en-US" altLang="en-GB">
                <a:sym typeface="+mn-ea"/>
              </a:rPr>
              <a:t>mysql -u username -p &lt; libraryCatalog.sql</a:t>
            </a:r>
            <a:endParaRPr lang="en-US" altLang="en-GB"/>
          </a:p>
          <a:p>
            <a:r>
              <a:rPr lang="en-US" altLang="en-GB">
                <a:sym typeface="+mn-ea"/>
              </a:rPr>
              <a:t>6. Conclusion</a:t>
            </a:r>
            <a:endParaRPr lang="en-US" altLang="en-GB"/>
          </a:p>
          <a:p>
            <a:r>
              <a:rPr lang="en-US" altLang="en-GB">
                <a:sym typeface="+mn-ea"/>
              </a:rPr>
              <a:t>This project successfully demonstrates a complete database system for managing a library’s catalog. It includes a well-defined schema, proper use of SQL operations, relational integrity, and meaningful data insights.</a:t>
            </a:r>
            <a:endParaRPr lang="en-US" altLang="en-GB"/>
          </a:p>
          <a:p>
            <a:endParaRPr lang="en-GB"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590675" y="927735"/>
            <a:ext cx="7672705" cy="3938270"/>
          </a:xfrm>
          <a:prstGeom prst="rect">
            <a:avLst/>
          </a:prstGeom>
          <a:noFill/>
        </p:spPr>
        <p:txBody>
          <a:bodyPr wrap="square" rtlCol="0">
            <a:spAutoFit/>
          </a:bodyPr>
          <a:p>
            <a:r>
              <a:rPr lang="en-US" altLang="en-GB" sz="2400"/>
              <a:t>Conclusion</a:t>
            </a:r>
            <a:endParaRPr lang="en-US" altLang="en-GB" sz="2400"/>
          </a:p>
          <a:p>
            <a:endParaRPr lang="en-US" altLang="en-GB"/>
          </a:p>
          <a:p>
            <a:r>
              <a:rPr lang="en-US" altLang="en-GB"/>
              <a:t>This project successfully demonstrates a complete database system for managing a library’s catalog. It includes a well-defined schema, proper use of SQL operations, relational integrity, and meaningful data insights.</a:t>
            </a:r>
            <a:endParaRPr lang="en-US" altLang="en-GB"/>
          </a:p>
          <a:p>
            <a:endParaRPr lang="en-US" altLang="en-GB"/>
          </a:p>
          <a:p>
            <a:r>
              <a:rPr lang="en-US" altLang="en-GB" sz="2800"/>
              <a:t>Future Improvements:</a:t>
            </a:r>
            <a:endParaRPr lang="en-US" altLang="en-GB" sz="2800"/>
          </a:p>
          <a:p>
            <a:endParaRPr lang="en-US" altLang="en-GB"/>
          </a:p>
          <a:p>
            <a:r>
              <a:rPr lang="en-US" altLang="en-GB"/>
              <a:t>Use DATE data type for better date operations.</a:t>
            </a:r>
            <a:endParaRPr lang="en-US" altLang="en-GB"/>
          </a:p>
          <a:p>
            <a:endParaRPr lang="en-US" altLang="en-GB"/>
          </a:p>
          <a:p>
            <a:r>
              <a:rPr lang="en-US" altLang="en-GB"/>
              <a:t>Add Events, Attendees, and Registration tables.</a:t>
            </a:r>
            <a:endParaRPr lang="en-US" altLang="en-GB"/>
          </a:p>
          <a:p>
            <a:endParaRPr lang="en-US" altLang="en-GB"/>
          </a:p>
          <a:p>
            <a:r>
              <a:rPr lang="en-US" altLang="en-GB"/>
              <a:t>Develop a web interface for user interaction.</a:t>
            </a:r>
            <a:endParaRPr lang="en-US" altLang="en-GB"/>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rot="19500000">
            <a:off x="1654175" y="2712720"/>
            <a:ext cx="7450455" cy="1809750"/>
          </a:xfrm>
          <a:prstGeom prst="rect">
            <a:avLst/>
          </a:prstGeom>
          <a:noFill/>
        </p:spPr>
        <p:txBody>
          <a:bodyPr wrap="square" rtlCol="0">
            <a:noAutofit/>
          </a:bodyPr>
          <a:p>
            <a:r>
              <a:rPr lang="en-US" altLang="en-GB" sz="9600" b="1">
                <a:ln w="15875"/>
                <a:gradFill>
                  <a:gsLst>
                    <a:gs pos="0">
                      <a:schemeClr val="accent1"/>
                    </a:gs>
                    <a:gs pos="100000">
                      <a:schemeClr val="accent6"/>
                    </a:gs>
                  </a:gsLst>
                  <a:lin ang="2700000" scaled="0"/>
                </a:gradFill>
                <a:effectLst/>
              </a:rPr>
              <a:t>THANK </a:t>
            </a:r>
            <a:r>
              <a:rPr lang="en-US" altLang="en-GB" sz="9600" b="1">
                <a:ln w="15875"/>
                <a:gradFill>
                  <a:gsLst>
                    <a:gs pos="0">
                      <a:schemeClr val="accent1"/>
                    </a:gs>
                    <a:gs pos="100000">
                      <a:schemeClr val="accent6"/>
                    </a:gs>
                  </a:gsLst>
                  <a:lin ang="2700000" scaled="0"/>
                </a:gradFill>
                <a:effectLst/>
                <a:highlight>
                  <a:srgbClr val="000000">
                    <a:alpha val="0"/>
                  </a:srgbClr>
                </a:highlight>
              </a:rPr>
              <a:t>YOU</a:t>
            </a:r>
            <a:endParaRPr lang="en-US" altLang="en-GB" sz="9600" b="1">
              <a:ln w="15875"/>
              <a:gradFill>
                <a:gsLst>
                  <a:gs pos="0">
                    <a:schemeClr val="accent1"/>
                  </a:gs>
                  <a:gs pos="100000">
                    <a:schemeClr val="accent6"/>
                  </a:gs>
                </a:gsLst>
                <a:lin ang="2700000" scaled="0"/>
              </a:gradFill>
              <a:effectLst/>
              <a:highlight>
                <a:srgbClr val="000000">
                  <a:alpha val="0"/>
                </a:srgbClr>
              </a:highlight>
            </a:endParaRPr>
          </a:p>
        </p:txBody>
      </p:sp>
    </p:spTree>
  </p:cSld>
  <p:clrMapOvr>
    <a:masterClrMapping/>
  </p:clrMapOvr>
</p:sld>
</file>

<file path=ppt/tags/tag1.xml><?xml version="1.0" encoding="utf-8"?>
<p:tagLst xmlns:p="http://schemas.openxmlformats.org/presentationml/2006/main">
  <p:tag name="TABLE_ENDDRAG_ORIGIN_RECT" val="641*146"/>
  <p:tag name="TABLE_ENDDRAG_RECT" val="114*319*641*146"/>
</p:tagLst>
</file>

<file path=ppt/tags/tag2.xml><?xml version="1.0" encoding="utf-8"?>
<p:tagLst xmlns:p="http://schemas.openxmlformats.org/presentationml/2006/main">
  <p:tag name="TABLE_ENDDRAG_ORIGIN_RECT" val="555*384"/>
  <p:tag name="TABLE_ENDDRAG_RECT" val="224*136*555*384"/>
</p:tagLst>
</file>

<file path=ppt/tags/tag3.xml><?xml version="1.0" encoding="utf-8"?>
<p:tagLst xmlns:p="http://schemas.openxmlformats.org/presentationml/2006/main">
  <p:tag name="TABLE_ENDDRAG_ORIGIN_RECT" val="778*150"/>
  <p:tag name="TABLE_ENDDRAG_RECT" val="41*341*778*150"/>
</p:tagLst>
</file>

<file path=ppt/theme/theme1.xml><?xml version="1.0" encoding="utf-8"?>
<a:theme xmlns:a="http://schemas.openxmlformats.org/drawingml/2006/main" name="1_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8167</Words>
  <Application>WPS Slides</Application>
  <PresentationFormat>Widescreen</PresentationFormat>
  <Paragraphs>450</Paragraphs>
  <Slides>28</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28</vt:i4>
      </vt:variant>
    </vt:vector>
  </HeadingPairs>
  <TitlesOfParts>
    <vt:vector size="37" baseType="lpstr">
      <vt:lpstr>Arial</vt:lpstr>
      <vt:lpstr>SimSun</vt:lpstr>
      <vt:lpstr>Wingdings</vt:lpstr>
      <vt:lpstr>Comic Sans MS</vt:lpstr>
      <vt:lpstr>Wingdings</vt:lpstr>
      <vt:lpstr>Microsoft YaHei</vt:lpstr>
      <vt:lpstr>Arial Unicode MS</vt:lpstr>
      <vt:lpstr>Calibri</vt:lpstr>
      <vt:lpstr>1_Default Design</vt:lpstr>
      <vt:lpstr>PowerPoint 演示文稿</vt:lpstr>
      <vt:lpstr>    INTRODUCTION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wus</dc:creator>
  <cp:lastModifiedBy>maidote birhan</cp:lastModifiedBy>
  <cp:revision>10</cp:revision>
  <dcterms:created xsi:type="dcterms:W3CDTF">2025-04-08T19:38:00Z</dcterms:created>
  <dcterms:modified xsi:type="dcterms:W3CDTF">2025-04-09T17:35:33Z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B1D80586B62640D79CEB04948F81BD3B_13</vt:lpwstr>
  </property>
  <property fmtid="{D5CDD505-2E9C-101B-9397-08002B2CF9AE}" pid="3" name="KSOProductBuildVer">
    <vt:lpwstr>2057-12.2.0.20755</vt:lpwstr>
  </property>
</Properties>
</file>